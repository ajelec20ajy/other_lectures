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6385-1BE6-4139-BFEC-8DD3B6633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E2D260-0063-40E5-AB97-4ECF3ECED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EB37A4-269F-4067-A17C-E49C44EE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DCADF8-4ED0-4770-AFCC-5B044C56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5BA5F5-134D-41DC-8571-949193E9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13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5BFDB-3D0A-4978-B31D-FCF4FCF48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6DF9F1-6872-4F04-9CE5-40FC3C6E2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B38E7F-6562-4C86-B8F1-9D372FFD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E9E81-76E8-4584-B663-67B4C3E3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D738F7-6F94-4E2B-9ABB-C92977D3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03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51ED1-7635-4490-BEDC-983B9855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F3023F-CECD-46EA-9042-BE00790E5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404D72-D043-47E5-98C6-5333993E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58C45-D37B-42A4-8C74-1153C1F4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A3603D-4BC0-4880-B3EE-A8300682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29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05EF4-9DBF-485C-854D-15F2A7DE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7952F-A565-48A2-93DE-3C548EBC8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B656C6-6B89-44EE-B744-3FDE0B298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FD8E04-348E-47A8-AFBD-BD45DDFE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A8EEDA-6480-4F3F-B945-3B477616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CF82DC-7B4F-49E2-8457-B8537D87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09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E5AD8-5016-4C2D-B092-C263B3D6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D64645-6748-44FD-81CA-F100CA8E7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0ADF0E-9BBA-4D64-9EB8-FBE7634CF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F87DDC-02CA-4375-80EA-85C390D23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8C3452-C60A-4B3B-9262-2C885A4A4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604857-A771-4FD9-B03E-9FB5E44C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33EA22-A22A-4A09-AA51-9A868AE8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B3F8DC-1830-478F-929D-52D08F77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78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0054E-569A-4E41-87CF-153DC3E5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C6DD2D-BCB3-4D84-865A-9A85EC16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B81650-7EF3-4E1C-9DF7-8AE509C7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B15C2-8909-4A12-9EE1-60F3A60C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23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595826-FE6E-4AFC-8F2D-AF1C44A3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3F5A2D-4DCF-45F9-AD4A-CCD493F1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C09B1-AB7F-43BB-A4A3-0A9DE6CB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2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6259B-87F9-47B6-B3AD-94CDCDDA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486F0-DA22-431E-BA18-A6036E096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695589-A53C-4603-A323-4AEABA434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EC8664-0397-4980-B298-45B44C9D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1747FF-2374-4D5E-B809-D507DD5B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7B43FA-AA01-46D6-94F6-D2E3AC1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308E7-17AB-456C-93EE-1CC50052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41765B-F35E-4220-B3AF-9A00C0194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E6B6A5-A72A-4CD3-B65D-A42E48FF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518FE6-4C5C-410E-BF1E-769CD903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592A6E-B793-45D6-A96D-CD66E934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CDF467-98B9-4E77-9FFB-8FFAE3B4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72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59E07-FB00-4AF9-BDE1-954223F5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784D62-0A8C-4053-A838-30F684E6B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69CABC-BE12-4683-B039-8394B57D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EC9FC-5762-46AE-A92B-A8029B72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DC8B3-5B98-4B05-8B98-257172C0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53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264A5C-395E-48BB-BE81-EB2181437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2D0021-F366-4AC3-9995-71CCEA835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7B91B3-F327-45B7-A850-515278DE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7A82FC-17D5-4612-9B5D-99B8BC87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0D7AAC-2772-4F21-A6DE-85DEC9E0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22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81AF60-A8E6-4109-A39A-8462715D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F01FEF-8C64-4A11-979B-7C2C222FF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9FDD98-D6F5-4CBE-A693-D205854FF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77B9E-82C9-4CB2-AC8B-57E057F5636F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952C9-812D-41E0-A17D-408A15F71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DCF17-8133-4E17-AF39-11198EC9E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A11CE-7D83-4E79-B2C2-1D1F0A8A2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5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E70FC-8C68-49D9-A841-B8510068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53" y="180567"/>
            <a:ext cx="2685176" cy="868057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PNP </a:t>
            </a:r>
            <a:r>
              <a:rPr lang="en-US" altLang="ko-KR" sz="3600" dirty="0" err="1"/>
              <a:t>BJT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69001A-D61D-4622-8E44-496879BAB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02" y="1111339"/>
            <a:ext cx="2913253" cy="169079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162793-4365-4D25-B950-8B015A268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115" y="1168461"/>
            <a:ext cx="2582864" cy="1003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F2B77-B4F3-4A16-82AF-C43C47026C63}"/>
              </a:ext>
            </a:extLst>
          </p:cNvPr>
          <p:cNvSpPr txBox="1"/>
          <p:nvPr/>
        </p:nvSpPr>
        <p:spPr>
          <a:xfrm>
            <a:off x="995493" y="3429000"/>
            <a:ext cx="10201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이미터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전류 운반 캐리어</a:t>
            </a:r>
            <a:r>
              <a:rPr lang="en-US" altLang="ko-KR" dirty="0"/>
              <a:t>(</a:t>
            </a:r>
            <a:r>
              <a:rPr lang="ko-KR" altLang="en-US" dirty="0"/>
              <a:t>전자 혹은 정공</a:t>
            </a:r>
            <a:r>
              <a:rPr lang="en-US" altLang="ko-KR" dirty="0"/>
              <a:t>)</a:t>
            </a:r>
            <a:r>
              <a:rPr lang="ko-KR" altLang="en-US" dirty="0"/>
              <a:t>을 제공함</a:t>
            </a:r>
            <a:r>
              <a:rPr lang="en-US" altLang="ko-KR" dirty="0"/>
              <a:t>. </a:t>
            </a:r>
            <a:r>
              <a:rPr lang="ko-KR" altLang="en-US" dirty="0"/>
              <a:t>도핑 농도가 매우 큼</a:t>
            </a:r>
            <a:endParaRPr lang="en-US" altLang="ko-KR" dirty="0"/>
          </a:p>
          <a:p>
            <a:r>
              <a:rPr lang="ko-KR" altLang="en-US" dirty="0" err="1"/>
              <a:t>컬렉터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캐리어의 정착지</a:t>
            </a:r>
            <a:r>
              <a:rPr lang="en-US" altLang="ko-KR" dirty="0"/>
              <a:t>. </a:t>
            </a:r>
            <a:r>
              <a:rPr lang="ko-KR" altLang="en-US" dirty="0"/>
              <a:t>도핑 농도가 낮음</a:t>
            </a:r>
            <a:endParaRPr lang="en-US" altLang="ko-KR" dirty="0"/>
          </a:p>
          <a:p>
            <a:r>
              <a:rPr lang="ko-KR" altLang="en-US" dirty="0"/>
              <a:t>베이스 </a:t>
            </a:r>
            <a:r>
              <a:rPr lang="en-US" altLang="ko-KR" dirty="0"/>
              <a:t>: </a:t>
            </a:r>
            <a:r>
              <a:rPr lang="ko-KR" altLang="en-US" dirty="0"/>
              <a:t>중간 영역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이미터</a:t>
            </a:r>
            <a:r>
              <a:rPr lang="en-US" altLang="ko-KR" dirty="0"/>
              <a:t>(E)</a:t>
            </a:r>
            <a:r>
              <a:rPr lang="ko-KR" altLang="en-US" dirty="0"/>
              <a:t>에서 베이스</a:t>
            </a:r>
            <a:r>
              <a:rPr lang="en-US" altLang="ko-KR" dirty="0"/>
              <a:t>(B), </a:t>
            </a:r>
            <a:r>
              <a:rPr lang="ko-KR" altLang="en-US" dirty="0" err="1"/>
              <a:t>컬렉터</a:t>
            </a:r>
            <a:r>
              <a:rPr lang="en-US" altLang="ko-KR" dirty="0"/>
              <a:t>(C)</a:t>
            </a:r>
            <a:r>
              <a:rPr lang="ko-KR" altLang="en-US" dirty="0"/>
              <a:t>로 전류가 나감</a:t>
            </a:r>
          </a:p>
        </p:txBody>
      </p:sp>
    </p:spTree>
    <p:extLst>
      <p:ext uri="{BB962C8B-B14F-4D97-AF65-F5344CB8AC3E}">
        <p14:creationId xmlns:p14="http://schemas.microsoft.com/office/powerpoint/2010/main" val="415665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65A25-D298-469F-890E-92091C10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74" y="146787"/>
            <a:ext cx="1864642" cy="400170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BJT</a:t>
            </a:r>
            <a:r>
              <a:rPr lang="en-US" altLang="ko-KR" sz="2000" dirty="0"/>
              <a:t> </a:t>
            </a:r>
            <a:r>
              <a:rPr lang="ko-KR" altLang="en-US" sz="2000" dirty="0"/>
              <a:t>소자 모드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88123-7C32-46B5-BE6B-FE055567A455}"/>
              </a:ext>
            </a:extLst>
          </p:cNvPr>
          <p:cNvSpPr txBox="1"/>
          <p:nvPr/>
        </p:nvSpPr>
        <p:spPr>
          <a:xfrm>
            <a:off x="643666" y="736159"/>
            <a:ext cx="101842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동작 모드</a:t>
            </a:r>
            <a:endParaRPr lang="en-US" altLang="ko-KR" sz="1200" dirty="0"/>
          </a:p>
          <a:p>
            <a:pPr marL="342900" indent="-342900">
              <a:buAutoNum type="arabicParenR"/>
            </a:pPr>
            <a:r>
              <a:rPr lang="ko-KR" altLang="en-US" sz="1200" dirty="0"/>
              <a:t>순방향 활성 모드 </a:t>
            </a:r>
            <a:endParaRPr lang="en-US" altLang="ko-KR" sz="1200" dirty="0"/>
          </a:p>
          <a:p>
            <a:r>
              <a:rPr lang="en-US" altLang="ko-KR" sz="1200" dirty="0"/>
              <a:t>  - </a:t>
            </a:r>
            <a:r>
              <a:rPr lang="en-US" altLang="ko-KR" sz="1200" dirty="0" err="1"/>
              <a:t>NPN</a:t>
            </a:r>
            <a:endParaRPr lang="en-US" altLang="ko-KR" sz="1200" dirty="0"/>
          </a:p>
          <a:p>
            <a:r>
              <a:rPr lang="en-US" altLang="ko-KR" sz="1200" dirty="0"/>
              <a:t>  B-E </a:t>
            </a:r>
            <a:r>
              <a:rPr lang="ko-KR" altLang="en-US" sz="1200" dirty="0"/>
              <a:t>접합 순방향 바이어스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V</a:t>
            </a:r>
            <a:r>
              <a:rPr lang="en-US" altLang="ko-KR" sz="600" dirty="0" err="1"/>
              <a:t>BE</a:t>
            </a:r>
            <a:r>
              <a:rPr lang="en-US" altLang="ko-KR" sz="1200" dirty="0"/>
              <a:t> &gt; 0</a:t>
            </a:r>
          </a:p>
          <a:p>
            <a:r>
              <a:rPr lang="en-US" altLang="ko-KR" sz="1200" dirty="0"/>
              <a:t>  B-C </a:t>
            </a:r>
            <a:r>
              <a:rPr lang="ko-KR" altLang="en-US" sz="1200" dirty="0"/>
              <a:t>접합 역방향 바이어스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V</a:t>
            </a:r>
            <a:r>
              <a:rPr lang="en-US" altLang="ko-KR" sz="600" dirty="0" err="1"/>
              <a:t>BC</a:t>
            </a:r>
            <a:r>
              <a:rPr lang="en-US" altLang="ko-KR" sz="1200" dirty="0"/>
              <a:t> &lt; 0</a:t>
            </a:r>
          </a:p>
          <a:p>
            <a:r>
              <a:rPr lang="en-US" altLang="ko-KR" sz="1200" dirty="0"/>
              <a:t>  </a:t>
            </a:r>
            <a:r>
              <a:rPr lang="ko-KR" altLang="en-US" sz="1200" dirty="0" err="1"/>
              <a:t>이미터의</a:t>
            </a:r>
            <a:r>
              <a:rPr lang="ko-KR" altLang="en-US" sz="1200" dirty="0"/>
              <a:t> 전자가 베이스의 정공과 결합하여 소멸되고 나머지는 </a:t>
            </a:r>
            <a:r>
              <a:rPr lang="ko-KR" altLang="en-US" sz="1200" dirty="0" err="1"/>
              <a:t>컬렉터로</a:t>
            </a:r>
            <a:r>
              <a:rPr lang="ko-KR" altLang="en-US" sz="1200" dirty="0"/>
              <a:t> 이동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  - PNP</a:t>
            </a:r>
          </a:p>
          <a:p>
            <a:r>
              <a:rPr lang="en-US" altLang="ko-KR" sz="1200" dirty="0"/>
              <a:t>  B-E </a:t>
            </a:r>
            <a:r>
              <a:rPr lang="ko-KR" altLang="en-US" sz="1200" dirty="0"/>
              <a:t>접합 순방향 바이어스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V</a:t>
            </a:r>
            <a:r>
              <a:rPr lang="en-US" altLang="ko-KR" sz="600" dirty="0" err="1"/>
              <a:t>EB</a:t>
            </a:r>
            <a:r>
              <a:rPr lang="en-US" altLang="ko-KR" sz="1200" dirty="0"/>
              <a:t> &gt; 0</a:t>
            </a:r>
          </a:p>
          <a:p>
            <a:r>
              <a:rPr lang="en-US" altLang="ko-KR" sz="1200" dirty="0"/>
              <a:t>  B-C </a:t>
            </a:r>
            <a:r>
              <a:rPr lang="ko-KR" altLang="en-US" sz="1200" dirty="0"/>
              <a:t>접합 역방향 바이어스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V</a:t>
            </a:r>
            <a:r>
              <a:rPr lang="en-US" altLang="ko-KR" sz="600" dirty="0" err="1"/>
              <a:t>CB</a:t>
            </a:r>
            <a:r>
              <a:rPr lang="en-US" altLang="ko-KR" sz="1200" dirty="0"/>
              <a:t> &lt; 0</a:t>
            </a:r>
          </a:p>
          <a:p>
            <a:r>
              <a:rPr lang="en-US" altLang="ko-KR" sz="1200" dirty="0"/>
              <a:t> </a:t>
            </a:r>
            <a:r>
              <a:rPr lang="ko-KR" altLang="en-US" sz="1200" dirty="0" err="1"/>
              <a:t>이미터의</a:t>
            </a:r>
            <a:r>
              <a:rPr lang="ko-KR" altLang="en-US" sz="1200" dirty="0"/>
              <a:t> 정공이 베이스의 전자와 결합하여 소멸되고</a:t>
            </a:r>
            <a:r>
              <a:rPr lang="en-US" altLang="ko-KR" sz="1200" dirty="0"/>
              <a:t>, </a:t>
            </a:r>
            <a:r>
              <a:rPr lang="ko-KR" altLang="en-US" sz="1200" dirty="0"/>
              <a:t>나머지는 </a:t>
            </a:r>
            <a:r>
              <a:rPr lang="ko-KR" altLang="en-US" sz="1200" dirty="0" err="1"/>
              <a:t>컬렉터로</a:t>
            </a:r>
            <a:r>
              <a:rPr lang="ko-KR" altLang="en-US" sz="1200" dirty="0"/>
              <a:t> 이동</a:t>
            </a:r>
            <a:endParaRPr lang="en-US" altLang="ko-KR" sz="1200" dirty="0"/>
          </a:p>
          <a:p>
            <a:r>
              <a:rPr lang="en-US" altLang="ko-KR" sz="1200" dirty="0"/>
              <a:t>  </a:t>
            </a:r>
            <a:r>
              <a:rPr lang="en-US" altLang="ko-KR" sz="1200" dirty="0" err="1"/>
              <a:t>I</a:t>
            </a:r>
            <a:r>
              <a:rPr lang="en-US" altLang="ko-KR" sz="600" dirty="0" err="1"/>
              <a:t>B</a:t>
            </a:r>
            <a:r>
              <a:rPr lang="en-US" altLang="ko-KR" sz="1200" dirty="0"/>
              <a:t> &lt;&lt; I</a:t>
            </a:r>
            <a:r>
              <a:rPr lang="en-US" altLang="ko-KR" sz="600" dirty="0"/>
              <a:t>E</a:t>
            </a:r>
            <a:r>
              <a:rPr lang="en-US" altLang="ko-KR" sz="1200" dirty="0"/>
              <a:t>, I</a:t>
            </a:r>
            <a:r>
              <a:rPr lang="en-US" altLang="ko-KR" sz="600" dirty="0"/>
              <a:t>C</a:t>
            </a:r>
          </a:p>
          <a:p>
            <a:r>
              <a:rPr lang="en-US" altLang="ko-KR" sz="600" dirty="0"/>
              <a:t>    </a:t>
            </a:r>
            <a:r>
              <a:rPr lang="en-US" altLang="ko-KR" sz="1200" dirty="0"/>
              <a:t>I</a:t>
            </a:r>
            <a:r>
              <a:rPr lang="en-US" altLang="ko-KR" sz="600" dirty="0"/>
              <a:t>C</a:t>
            </a:r>
            <a:r>
              <a:rPr lang="en-US" altLang="ko-KR" sz="1200" dirty="0"/>
              <a:t> ∝ </a:t>
            </a:r>
            <a:r>
              <a:rPr lang="en-US" altLang="ko-KR" sz="1200" dirty="0" err="1"/>
              <a:t>I</a:t>
            </a:r>
            <a:r>
              <a:rPr lang="en-US" altLang="ko-KR" sz="600" dirty="0" err="1"/>
              <a:t>B</a:t>
            </a:r>
            <a:r>
              <a:rPr lang="en-US" altLang="ko-KR" sz="1200" dirty="0"/>
              <a:t> : </a:t>
            </a:r>
            <a:r>
              <a:rPr lang="ko-KR" altLang="en-US" sz="1200" dirty="0"/>
              <a:t>증폭기 기능 </a:t>
            </a:r>
            <a:r>
              <a:rPr lang="en-US" altLang="ko-KR" sz="1200" dirty="0"/>
              <a:t>: </a:t>
            </a:r>
            <a:r>
              <a:rPr lang="ko-KR" altLang="en-US" sz="1200" dirty="0"/>
              <a:t>베이스에 입력되는 작은 신호가 증폭되어 </a:t>
            </a:r>
            <a:r>
              <a:rPr lang="ko-KR" altLang="en-US" sz="1200" dirty="0" err="1"/>
              <a:t>컬렉터에서</a:t>
            </a:r>
            <a:r>
              <a:rPr lang="ko-KR" altLang="en-US" sz="1200" dirty="0"/>
              <a:t> 큰 신호 </a:t>
            </a:r>
            <a:r>
              <a:rPr lang="en-US" altLang="ko-KR" sz="1200" dirty="0"/>
              <a:t>-&gt; </a:t>
            </a:r>
            <a:r>
              <a:rPr lang="ko-KR" altLang="en-US" sz="1200" dirty="0"/>
              <a:t>트랜지스터 기능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1-1) </a:t>
            </a:r>
            <a:r>
              <a:rPr lang="ko-KR" altLang="en-US" sz="1200" dirty="0"/>
              <a:t>순방향 활성 </a:t>
            </a:r>
            <a:r>
              <a:rPr lang="en-US" altLang="ko-KR" sz="1200" dirty="0" err="1"/>
              <a:t>NPN</a:t>
            </a:r>
            <a:r>
              <a:rPr lang="en-US" altLang="ko-KR" sz="1200" dirty="0"/>
              <a:t> </a:t>
            </a:r>
            <a:r>
              <a:rPr lang="ko-KR" altLang="en-US" sz="1200" dirty="0"/>
              <a:t>전류 성분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2) </a:t>
            </a:r>
            <a:r>
              <a:rPr lang="ko-KR" altLang="en-US" sz="1200" dirty="0"/>
              <a:t>포화 모드</a:t>
            </a:r>
            <a:endParaRPr lang="en-US" altLang="ko-KR" sz="1200" dirty="0"/>
          </a:p>
          <a:p>
            <a:r>
              <a:rPr lang="en-US" altLang="ko-KR" sz="1200" dirty="0"/>
              <a:t>  B-E </a:t>
            </a:r>
            <a:r>
              <a:rPr lang="ko-KR" altLang="en-US" sz="1200" dirty="0"/>
              <a:t>접합 순방향 바이어스</a:t>
            </a:r>
            <a:r>
              <a:rPr lang="en-US" altLang="ko-KR" sz="1200" dirty="0"/>
              <a:t>, B-C </a:t>
            </a:r>
            <a:r>
              <a:rPr lang="ko-KR" altLang="en-US" sz="1200" dirty="0"/>
              <a:t>접합 역방향 바이어스</a:t>
            </a:r>
            <a:endParaRPr lang="en-US" altLang="ko-KR" sz="1200" dirty="0"/>
          </a:p>
          <a:p>
            <a:r>
              <a:rPr lang="en-US" altLang="ko-KR" sz="1200" dirty="0"/>
              <a:t>  </a:t>
            </a:r>
            <a:r>
              <a:rPr lang="en-US" altLang="ko-KR" sz="1200" dirty="0" err="1"/>
              <a:t>I</a:t>
            </a:r>
            <a:r>
              <a:rPr lang="en-US" altLang="ko-KR" sz="600" dirty="0" err="1"/>
              <a:t>B</a:t>
            </a:r>
            <a:r>
              <a:rPr lang="ko-KR" altLang="en-US" sz="1200" dirty="0"/>
              <a:t>가 증가하더라도 </a:t>
            </a:r>
            <a:r>
              <a:rPr lang="en-US" altLang="ko-KR" sz="1200" dirty="0"/>
              <a:t>I</a:t>
            </a:r>
            <a:r>
              <a:rPr lang="en-US" altLang="ko-KR" sz="600" dirty="0"/>
              <a:t>C</a:t>
            </a:r>
            <a:r>
              <a:rPr lang="ko-KR" altLang="en-US" sz="1200" dirty="0"/>
              <a:t> 증가하지 않음 </a:t>
            </a:r>
            <a:r>
              <a:rPr lang="en-US" altLang="ko-KR" sz="1200" dirty="0"/>
              <a:t>: </a:t>
            </a:r>
            <a:r>
              <a:rPr lang="ko-KR" altLang="en-US" sz="1200" dirty="0"/>
              <a:t>닫힌 스위치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3) </a:t>
            </a:r>
            <a:r>
              <a:rPr lang="ko-KR" altLang="en-US" sz="1200" dirty="0"/>
              <a:t>차단 모드 </a:t>
            </a:r>
            <a:r>
              <a:rPr lang="en-US" altLang="ko-KR" sz="1200" dirty="0"/>
              <a:t>: </a:t>
            </a:r>
            <a:r>
              <a:rPr lang="ko-KR" altLang="en-US" sz="1200" dirty="0"/>
              <a:t>개방 스위치</a:t>
            </a:r>
            <a:endParaRPr lang="en-US" altLang="ko-KR" sz="1200" dirty="0"/>
          </a:p>
          <a:p>
            <a:r>
              <a:rPr lang="en-US" altLang="ko-KR" sz="1200" dirty="0"/>
              <a:t>  - B-E </a:t>
            </a:r>
            <a:r>
              <a:rPr lang="ko-KR" altLang="en-US" sz="1200" dirty="0"/>
              <a:t>접합 역방향 바이어스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V</a:t>
            </a:r>
            <a:r>
              <a:rPr lang="en-US" altLang="ko-KR" sz="600" dirty="0" err="1"/>
              <a:t>EB</a:t>
            </a:r>
            <a:r>
              <a:rPr lang="en-US" altLang="ko-KR" sz="1200" dirty="0"/>
              <a:t> &lt; 0) : B-E </a:t>
            </a:r>
            <a:r>
              <a:rPr lang="ko-KR" altLang="en-US" sz="1200" dirty="0"/>
              <a:t>접합에 전류 흐르지 않음 </a:t>
            </a:r>
            <a:endParaRPr lang="en-US" altLang="ko-KR" sz="1200" dirty="0"/>
          </a:p>
          <a:p>
            <a:r>
              <a:rPr lang="en-US" altLang="ko-KR" sz="1200" dirty="0"/>
              <a:t>  - B-C </a:t>
            </a:r>
            <a:r>
              <a:rPr lang="ko-KR" altLang="en-US" sz="1200" dirty="0"/>
              <a:t>접합 역방향 바이어스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V</a:t>
            </a:r>
            <a:r>
              <a:rPr lang="en-US" altLang="ko-KR" sz="600" dirty="0" err="1"/>
              <a:t>CB</a:t>
            </a:r>
            <a:r>
              <a:rPr lang="en-US" altLang="ko-KR" sz="1200" dirty="0"/>
              <a:t> &lt; 0) : B-C </a:t>
            </a:r>
            <a:r>
              <a:rPr lang="ko-KR" altLang="en-US" sz="1200" dirty="0"/>
              <a:t>접합에 전류 흐르지 않음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9BD74F4-FBFB-45B7-8021-38E84DDF2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101" y="4935305"/>
            <a:ext cx="1716490" cy="95889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1951BD5-8EDC-4C1F-97AA-6A3B8067F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782" y="5894197"/>
            <a:ext cx="1574086" cy="7426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E6B307-FDFC-4045-A6EE-67A8BF7DEC94}"/>
              </a:ext>
            </a:extLst>
          </p:cNvPr>
          <p:cNvSpPr txBox="1"/>
          <p:nvPr/>
        </p:nvSpPr>
        <p:spPr>
          <a:xfrm>
            <a:off x="7619376" y="5752509"/>
            <a:ext cx="2092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4) </a:t>
            </a:r>
            <a:r>
              <a:rPr lang="ko-KR" altLang="en-US" sz="1200" dirty="0"/>
              <a:t>역방향 활성 모드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  <a:r>
              <a:rPr lang="ko-KR" altLang="en-US" sz="1200" dirty="0"/>
              <a:t>사용</a:t>
            </a:r>
            <a:r>
              <a:rPr lang="en-US" altLang="ko-KR" sz="1200" dirty="0"/>
              <a:t>X</a:t>
            </a:r>
          </a:p>
          <a:p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0AE7D3E-D9F4-4A2F-8BF3-F46B0DD0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66" y="3528064"/>
            <a:ext cx="2208591" cy="11346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289648-1F46-4B18-A9C6-82E1D5927C10}"/>
                  </a:ext>
                </a:extLst>
              </p:cNvPr>
              <p:cNvSpPr txBox="1"/>
              <p:nvPr/>
            </p:nvSpPr>
            <p:spPr>
              <a:xfrm>
                <a:off x="3262817" y="3567522"/>
                <a:ext cx="8094902" cy="11472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 (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열</m:t>
                    </m:r>
                  </m:oMath>
                </a14:m>
                <a:r>
                  <a:rPr lang="ko-KR" altLang="en-US" sz="1200" dirty="0"/>
                  <a:t>전압</a:t>
                </a:r>
                <a:r>
                  <a:rPr lang="en-US" altLang="ko-KR" sz="12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 (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𝐷𝐶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전</m:t>
                    </m:r>
                  </m:oMath>
                </a14:m>
                <a:r>
                  <a:rPr lang="ko-KR" altLang="en-US" sz="1200" dirty="0"/>
                  <a:t>류 이득</a:t>
                </a:r>
                <a:r>
                  <a:rPr lang="en-US" altLang="ko-KR" sz="12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=(1+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𝐷𝐶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200" dirty="0"/>
                  <a:t>)</a:t>
                </a:r>
                <a:r>
                  <a:rPr lang="en-US" altLang="ko-KR" sz="12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ko-KR" sz="1200" dirty="0"/>
              </a:p>
              <a:p>
                <a:r>
                  <a:rPr lang="ko-KR" altLang="en-US" sz="1200" dirty="0"/>
                  <a:t>공</a:t>
                </a:r>
                <a14:m>
                  <m:oMath xmlns:m="http://schemas.openxmlformats.org/officeDocument/2006/math">
                    <m:r>
                      <a:rPr lang="ko-KR" altLang="en-US" sz="1200" i="1">
                        <a:latin typeface="Cambria Math" panose="02040503050406030204" pitchFamily="18" charset="0"/>
                      </a:rPr>
                      <m:t>통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베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이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전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류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이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득</m:t>
                    </m:r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서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주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입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된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전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중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까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지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도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달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하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비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율</m:t>
                    </m:r>
                  </m:oMath>
                </a14:m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1200" b="0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</m:oMath>
                </a14:m>
                <a:r>
                  <a:rPr lang="en-US" altLang="ko-KR" sz="1200" dirty="0"/>
                  <a:t>&lt;1,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200" dirty="0"/>
                  <a:t>=</a:t>
                </a:r>
                <a:r>
                  <a:rPr lang="en-US" altLang="ko-KR" sz="12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𝐷𝐶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𝐷𝐶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289648-1F46-4B18-A9C6-82E1D5927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817" y="3567522"/>
                <a:ext cx="8094902" cy="1147237"/>
              </a:xfrm>
              <a:prstGeom prst="rect">
                <a:avLst/>
              </a:prstGeom>
              <a:blipFill>
                <a:blip r:embed="rId5"/>
                <a:stretch>
                  <a:fillRect l="-1130" t="-3723" b="-4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340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E70FC-8C68-49D9-A841-B8510068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53" y="180567"/>
            <a:ext cx="2685176" cy="868057"/>
          </a:xfrm>
        </p:spPr>
        <p:txBody>
          <a:bodyPr>
            <a:normAutofit fontScale="90000"/>
          </a:bodyPr>
          <a:lstStyle/>
          <a:p>
            <a:r>
              <a:rPr lang="ko-KR" altLang="en-US" sz="3600" dirty="0"/>
              <a:t>문제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593EC3D9-DD19-43D2-8805-52EB6AFF1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82" y="1202283"/>
            <a:ext cx="11398836" cy="271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80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287</Words>
  <Application>Microsoft Office PowerPoint</Application>
  <PresentationFormat>와이드스크린</PresentationFormat>
  <Paragraphs>45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PNP BJT </vt:lpstr>
      <vt:lpstr>BJT 소자 모드</vt:lpstr>
      <vt:lpstr>문제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PNP BJT </dc:title>
  <dc:creator>안 준영</dc:creator>
  <cp:lastModifiedBy>안 준영</cp:lastModifiedBy>
  <cp:revision>4</cp:revision>
  <dcterms:created xsi:type="dcterms:W3CDTF">2021-09-30T10:02:51Z</dcterms:created>
  <dcterms:modified xsi:type="dcterms:W3CDTF">2021-09-30T12:38:11Z</dcterms:modified>
</cp:coreProperties>
</file>