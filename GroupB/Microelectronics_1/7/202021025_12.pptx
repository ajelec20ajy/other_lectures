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21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44" y="2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E623F32-F128-4229-8DA7-DF23C60978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D0DFFB8-2D80-41E6-9CB3-031E7BE687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C524168-9FA3-4C0C-A663-5F838522DE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6B5B70-BFC6-4A4C-BAA0-3941A65CD4B5}" type="datetimeFigureOut">
              <a:rPr lang="ko-KR" altLang="en-US" smtClean="0"/>
              <a:t>2021-11-25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76EBF9F-C065-46B9-B4A1-77E87853F2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A1C2C77-3779-4E64-AFCD-1C9A73298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918376-72CB-4A85-B830-6B9BB7D5BFB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347295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5381602-B051-4C10-8F8D-953ECC544C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78E72D6-A57D-41AB-AD12-6F7E1B769C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678A172-F0F1-44B8-8AC7-6DB92442F3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6B5B70-BFC6-4A4C-BAA0-3941A65CD4B5}" type="datetimeFigureOut">
              <a:rPr lang="ko-KR" altLang="en-US" smtClean="0"/>
              <a:t>2021-11-25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57984FC-DCF0-4896-B001-310A446417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FCFDFB2-2DC8-40C6-8497-15FF17EFBD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918376-72CB-4A85-B830-6B9BB7D5BFB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01376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D5414B6-97C3-4C29-AF6F-F0AE05A0F7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8B976B7-4EEA-4918-BB2E-26756CC918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18BA4CE-12BB-491B-BCF1-B80A451223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6B5B70-BFC6-4A4C-BAA0-3941A65CD4B5}" type="datetimeFigureOut">
              <a:rPr lang="ko-KR" altLang="en-US" smtClean="0"/>
              <a:t>2021-11-25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FC215FE-3CA3-410C-BE1D-865BB9AE94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3493CE5-6913-455D-AE75-4EA1FBE5AB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918376-72CB-4A85-B830-6B9BB7D5BFB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892327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A01CFD1-9973-4504-97D6-C03292985E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0A85F24-2911-4272-B9E6-EA16DB38956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241539C-F962-466B-A184-E95F15C012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1106D81-F604-4CB0-A671-637AF7D721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6B5B70-BFC6-4A4C-BAA0-3941A65CD4B5}" type="datetimeFigureOut">
              <a:rPr lang="ko-KR" altLang="en-US" smtClean="0"/>
              <a:t>2021-11-25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05F4CB2-32C2-41C9-8AD2-6C78454208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739ED76-843C-4DB3-8E0C-5F6D46CE78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918376-72CB-4A85-B830-6B9BB7D5BFB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55814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1B033C-879E-4B77-9236-80447D05E0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9C4BCCB-8C92-4941-97E8-AB604E21A5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290AA83-B08A-48DD-95A6-1317B71752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D37C2B3-3519-4751-A04C-800F4932B8E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5268A2F-ED45-44FC-8EBA-ECE055E58E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50FC5E65-709F-446D-BA36-8AA257B633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6B5B70-BFC6-4A4C-BAA0-3941A65CD4B5}" type="datetimeFigureOut">
              <a:rPr lang="ko-KR" altLang="en-US" smtClean="0"/>
              <a:t>2021-11-25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3563BAC-D81F-4BAE-BB0A-03B2884C83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0EAE11A4-0796-4096-BA9F-D6DBC6FDEF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918376-72CB-4A85-B830-6B9BB7D5BFB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20521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CAAAE79-5524-4D1E-BED2-889D58767B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EC19FD1-8E09-4D86-B1E4-0449B5AAB5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6B5B70-BFC6-4A4C-BAA0-3941A65CD4B5}" type="datetimeFigureOut">
              <a:rPr lang="ko-KR" altLang="en-US" smtClean="0"/>
              <a:t>2021-11-25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13F3211D-2DEF-4DB1-A543-668EC59962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D4126A0-A975-4953-B549-072C7E46D3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918376-72CB-4A85-B830-6B9BB7D5BFB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35375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1EAFED38-6C7E-44A5-A15B-48CF8BB479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6B5B70-BFC6-4A4C-BAA0-3941A65CD4B5}" type="datetimeFigureOut">
              <a:rPr lang="ko-KR" altLang="en-US" smtClean="0"/>
              <a:t>2021-11-25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5D6C91F0-E026-467F-B709-2D0199774E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60E4ADE-4095-44AC-A02D-94EDF1C948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918376-72CB-4A85-B830-6B9BB7D5BFB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639687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56FCF99-E4A8-42F1-9BF7-9A3EC60C0F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A2EB14F-4CA4-4D42-89AD-B19E2C9266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6F7C091-65DB-4A5D-BB85-9B33B46514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20A7237-BDF4-42EA-9CF2-D2482302E5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6B5B70-BFC6-4A4C-BAA0-3941A65CD4B5}" type="datetimeFigureOut">
              <a:rPr lang="ko-KR" altLang="en-US" smtClean="0"/>
              <a:t>2021-11-25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ED3C359-9879-4BC0-94A2-22D704C119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FD77053-D4BC-40F6-BF6C-DF63862C05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918376-72CB-4A85-B830-6B9BB7D5BFB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09818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34EA25-836C-49CE-9CBC-4AAEAE7FFC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CCA288F-48C5-4E56-95C4-8914601E6C3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CF4702A-EF93-4862-88B9-29704D943C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281DF2E-73B7-4CAD-93CB-84E72D0D92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6B5B70-BFC6-4A4C-BAA0-3941A65CD4B5}" type="datetimeFigureOut">
              <a:rPr lang="ko-KR" altLang="en-US" smtClean="0"/>
              <a:t>2021-11-25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119D703-6D3B-4D41-AFC7-F615903F4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CF28023-9625-4E13-B7AF-59553F993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918376-72CB-4A85-B830-6B9BB7D5BFB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01863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F2E5577-2C55-4986-991C-35F00C559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1AADA04-4D21-40A9-A97D-83EDB8272E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9523CC7-C5CA-4714-BD41-B5A06FD939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6B5B70-BFC6-4A4C-BAA0-3941A65CD4B5}" type="datetimeFigureOut">
              <a:rPr lang="ko-KR" altLang="en-US" smtClean="0"/>
              <a:t>2021-11-25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D5E47A3-E66A-4497-B9B4-7D74F9E3F1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F15FCFB-4B66-49A0-8FCE-D1537B64C3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918376-72CB-4A85-B830-6B9BB7D5BFB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012988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DABE40CE-9662-4134-9F21-12EB5DCE739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F0C09B7-2D99-4B42-8BC0-5B521AC6DD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56A5FDE-B50F-42D9-8742-9DA1882534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6B5B70-BFC6-4A4C-BAA0-3941A65CD4B5}" type="datetimeFigureOut">
              <a:rPr lang="ko-KR" altLang="en-US" smtClean="0"/>
              <a:t>2021-11-25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5CC31E8-822F-41B1-B6A8-1973C26AD4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606D184-DB99-4FB0-A6DA-955F5DB443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918376-72CB-4A85-B830-6B9BB7D5BFB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559764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5D60E1E2-FEA0-40F2-BF3E-8B64B3DE48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8656AEA-A182-4946-99B9-5F39857D12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D01ED85-61B2-4817-8F80-D7E6D32C11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6B5B70-BFC6-4A4C-BAA0-3941A65CD4B5}" type="datetimeFigureOut">
              <a:rPr lang="ko-KR" altLang="en-US" smtClean="0"/>
              <a:t>2021-11-25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AFD9A24-A202-4B5A-B08F-D32201330D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60B5032-7327-459B-BF0E-28ADBD7D17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918376-72CB-4A85-B830-6B9BB7D5BFB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3115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gif"/><Relationship Id="rId3" Type="http://schemas.openxmlformats.org/officeDocument/2006/relationships/image" Target="../media/image2.gif"/><Relationship Id="rId7" Type="http://schemas.openxmlformats.org/officeDocument/2006/relationships/image" Target="../media/image6.gi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5.gif"/><Relationship Id="rId5" Type="http://schemas.openxmlformats.org/officeDocument/2006/relationships/image" Target="../media/image4.png"/><Relationship Id="rId4" Type="http://schemas.openxmlformats.org/officeDocument/2006/relationships/image" Target="../media/image3.gi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gif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2.gif"/><Relationship Id="rId5" Type="http://schemas.openxmlformats.org/officeDocument/2006/relationships/image" Target="../media/image11.gif"/><Relationship Id="rId4" Type="http://schemas.openxmlformats.org/officeDocument/2006/relationships/image" Target="../media/image10.gi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gif"/><Relationship Id="rId2" Type="http://schemas.openxmlformats.org/officeDocument/2006/relationships/image" Target="../media/image17.gif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20.png"/><Relationship Id="rId4" Type="http://schemas.openxmlformats.org/officeDocument/2006/relationships/image" Target="../media/image19.gi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12FB7F4-0C53-4BB2-B236-5A33FD9A2D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57018" y="166254"/>
            <a:ext cx="11776364" cy="6539345"/>
          </a:xfrm>
        </p:spPr>
        <p:txBody>
          <a:bodyPr vert="horz"/>
          <a:lstStyle/>
          <a:p>
            <a:pPr marL="514350" indent="-514350">
              <a:buAutoNum type="arabicPeriod"/>
            </a:pPr>
            <a:r>
              <a:rPr lang="ko-KR" altLang="en-US" dirty="0"/>
              <a:t>공통 소스 증폭기</a:t>
            </a:r>
            <a:r>
              <a:rPr lang="en-US" altLang="ko-KR" dirty="0"/>
              <a:t>(</a:t>
            </a:r>
            <a:r>
              <a:rPr lang="ko-KR" altLang="en-US" dirty="0"/>
              <a:t>증가형 </a:t>
            </a:r>
            <a:r>
              <a:rPr lang="en-US" altLang="ko-KR" dirty="0"/>
              <a:t>N</a:t>
            </a:r>
            <a:r>
              <a:rPr lang="ko-KR" altLang="en-US" dirty="0"/>
              <a:t>채널</a:t>
            </a:r>
            <a:r>
              <a:rPr lang="en-US" altLang="ko-KR" dirty="0"/>
              <a:t>)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2. </a:t>
            </a:r>
            <a:r>
              <a:rPr lang="ko-KR" altLang="en-US" dirty="0"/>
              <a:t>전압분배 바이어스 회로</a:t>
            </a:r>
            <a:r>
              <a:rPr lang="en-US" altLang="ko-KR" dirty="0"/>
              <a:t>(</a:t>
            </a:r>
            <a:r>
              <a:rPr lang="ko-KR" altLang="en-US" dirty="0"/>
              <a:t>증가형 </a:t>
            </a:r>
            <a:r>
              <a:rPr lang="en-US" altLang="ko-KR" dirty="0"/>
              <a:t>N</a:t>
            </a:r>
            <a:r>
              <a:rPr lang="ko-KR" altLang="en-US" dirty="0"/>
              <a:t>채널</a:t>
            </a:r>
            <a:r>
              <a:rPr lang="en-US" altLang="ko-KR" dirty="0"/>
              <a:t>)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B0D552B-CB00-4F07-8439-A2A82FCD7F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18" y="938821"/>
            <a:ext cx="2923840" cy="2118416"/>
          </a:xfrm>
          <a:prstGeom prst="rect">
            <a:avLst/>
          </a:prstGeom>
        </p:spPr>
      </p:pic>
      <p:sp>
        <p:nvSpPr>
          <p:cNvPr id="6" name="Rectangle 3">
            <a:extLst>
              <a:ext uri="{FF2B5EF4-FFF2-40B4-BE49-F238E27FC236}">
                <a16:creationId xmlns:a16="http://schemas.microsoft.com/office/drawing/2014/main" id="{DC12E9D2-1C1E-452B-985D-F1E2CA7AE4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256EB9F7-DC21-4712-895F-BFA52DB1F9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81025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1030" name="_x401876456">
            <a:extLst>
              <a:ext uri="{FF2B5EF4-FFF2-40B4-BE49-F238E27FC236}">
                <a16:creationId xmlns:a16="http://schemas.microsoft.com/office/drawing/2014/main" id="{BCB399D5-EA57-4BFC-9A82-19F34B08E2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7876" y="1549858"/>
            <a:ext cx="2281382" cy="3512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9" name="_x401876096">
            <a:extLst>
              <a:ext uri="{FF2B5EF4-FFF2-40B4-BE49-F238E27FC236}">
                <a16:creationId xmlns:a16="http://schemas.microsoft.com/office/drawing/2014/main" id="{138DB2AF-F9BF-4816-9325-C7B157E14E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7876" y="2067327"/>
            <a:ext cx="2254243" cy="7504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A7D26F8D-B77A-4F48-9A5C-6E05D5D1C1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4C5E73D-06B0-4DA3-BEA6-6BEB0DEB2F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19380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E69960B4-7B8C-4C9F-95CA-4B3C8B18BD8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618" y="3942556"/>
            <a:ext cx="2527035" cy="2271829"/>
          </a:xfrm>
          <a:prstGeom prst="rect">
            <a:avLst/>
          </a:prstGeom>
        </p:spPr>
      </p:pic>
      <p:pic>
        <p:nvPicPr>
          <p:cNvPr id="1034" name="_x266233424">
            <a:extLst>
              <a:ext uri="{FF2B5EF4-FFF2-40B4-BE49-F238E27FC236}">
                <a16:creationId xmlns:a16="http://schemas.microsoft.com/office/drawing/2014/main" id="{EAC95720-F283-4AB1-807D-C0D02CA8AF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7876" y="4264778"/>
            <a:ext cx="2381250" cy="692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3" name="_x266231840">
            <a:extLst>
              <a:ext uri="{FF2B5EF4-FFF2-40B4-BE49-F238E27FC236}">
                <a16:creationId xmlns:a16="http://schemas.microsoft.com/office/drawing/2014/main" id="{8F5FFFE8-72CA-483D-B8A2-9F97DABE6F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7876" y="5215665"/>
            <a:ext cx="2168525" cy="307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88E7D017-8D8D-4D7F-B977-E3F1A8C740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865489A-571B-4B9F-90C5-23EB9AD2BB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14935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4" name="Rectangle 14">
            <a:extLst>
              <a:ext uri="{FF2B5EF4-FFF2-40B4-BE49-F238E27FC236}">
                <a16:creationId xmlns:a16="http://schemas.microsoft.com/office/drawing/2014/main" id="{8950D998-5935-4E08-9374-6E97381FB3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1037" name="_x407547128">
            <a:extLst>
              <a:ext uri="{FF2B5EF4-FFF2-40B4-BE49-F238E27FC236}">
                <a16:creationId xmlns:a16="http://schemas.microsoft.com/office/drawing/2014/main" id="{1765923B-4524-4E21-98C2-45C89B0CB0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7876" y="5722937"/>
            <a:ext cx="2381250" cy="692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496416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4" name="세로 텍스트 개체 틀 2">
                <a:extLst>
                  <a:ext uri="{FF2B5EF4-FFF2-40B4-BE49-F238E27FC236}">
                    <a16:creationId xmlns:a16="http://schemas.microsoft.com/office/drawing/2014/main" id="{6E3EBA32-367F-49E1-9101-FC4BF1B9B60E}"/>
                  </a:ext>
                </a:extLst>
              </p:cNvPr>
              <p:cNvSpPr>
                <a:spLocks noGrp="1"/>
              </p:cNvSpPr>
              <p:nvPr>
                <p:ph type="body" orient="vert" idx="1"/>
              </p:nvPr>
            </p:nvSpPr>
            <p:spPr>
              <a:xfrm>
                <a:off x="157018" y="166254"/>
                <a:ext cx="11776364" cy="6539345"/>
              </a:xfrm>
            </p:spPr>
            <p:txBody>
              <a:bodyPr vert="horz"/>
              <a:lstStyle/>
              <a:p>
                <a:pPr marL="0" indent="0">
                  <a:buNone/>
                </a:pPr>
                <a:r>
                  <a:rPr lang="en-US" altLang="ko-KR" dirty="0"/>
                  <a:t>3. </a:t>
                </a:r>
                <a:r>
                  <a:rPr lang="ko-KR" altLang="en-US" dirty="0"/>
                  <a:t>자기 바이어스 회로</a:t>
                </a:r>
                <a:r>
                  <a:rPr lang="en-US" altLang="ko-KR" dirty="0"/>
                  <a:t>(</a:t>
                </a:r>
                <a:r>
                  <a:rPr lang="ko-KR" altLang="en-US" dirty="0"/>
                  <a:t>증가형 </a:t>
                </a:r>
                <a:r>
                  <a:rPr lang="en-US" altLang="ko-KR" dirty="0"/>
                  <a:t>N</a:t>
                </a:r>
                <a:r>
                  <a:rPr lang="ko-KR" altLang="en-US" dirty="0"/>
                  <a:t>채널</a:t>
                </a:r>
                <a:r>
                  <a:rPr lang="en-US" altLang="ko-KR" dirty="0"/>
                  <a:t>)</a:t>
                </a:r>
              </a:p>
              <a:p>
                <a:pPr marL="0" indent="0">
                  <a:buNone/>
                </a:pPr>
                <a:endParaRPr lang="en-US" altLang="ko-KR" dirty="0"/>
              </a:p>
              <a:p>
                <a:pPr marL="0" indent="0">
                  <a:buNone/>
                </a:pPr>
                <a:endParaRPr lang="en-US" altLang="ko-KR" dirty="0"/>
              </a:p>
              <a:p>
                <a:pPr marL="0" indent="0">
                  <a:buNone/>
                </a:pPr>
                <a:endParaRPr lang="en-US" altLang="ko-KR" dirty="0"/>
              </a:p>
              <a:p>
                <a:pPr marL="0" indent="0">
                  <a:buNone/>
                </a:pPr>
                <a:endParaRPr lang="en-US" altLang="ko-KR" dirty="0"/>
              </a:p>
              <a:p>
                <a:pPr marL="0" indent="0">
                  <a:buNone/>
                </a:pPr>
                <a:endParaRPr lang="en-US" altLang="ko-KR" dirty="0"/>
              </a:p>
              <a:p>
                <a:pPr marL="0" indent="0">
                  <a:buNone/>
                </a:pPr>
                <a:endParaRPr lang="en-US" altLang="ko-KR" dirty="0"/>
              </a:p>
              <a:p>
                <a:pPr marL="0" indent="0">
                  <a:buNone/>
                </a:pPr>
                <a:endParaRPr lang="en-US" altLang="ko-KR" dirty="0"/>
              </a:p>
              <a:p>
                <a:pPr marL="0" indent="0">
                  <a:buNone/>
                </a:pPr>
                <a:r>
                  <a:rPr lang="en-US" altLang="ko-KR" dirty="0"/>
                  <a:t>   </a:t>
                </a:r>
                <a:r>
                  <a:rPr lang="ko-KR" altLang="en-US" dirty="0"/>
                  <a:t> 커지면 부하선의 기울기 감소</a:t>
                </a:r>
                <a:r>
                  <a:rPr lang="en-US" altLang="ko-KR" dirty="0"/>
                  <a:t>, </a:t>
                </a:r>
                <a:r>
                  <a:rPr lang="ko-KR" altLang="en-US" dirty="0"/>
                  <a:t>바이어스 전류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𝐷𝑄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ko-KR" altLang="en-US" dirty="0"/>
                  <a:t>감소</a:t>
                </a:r>
                <a:r>
                  <a:rPr lang="en-US" altLang="ko-KR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𝐷𝑆𝑄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ko-KR" altLang="en-US" i="1">
                        <a:latin typeface="Cambria Math" panose="02040503050406030204" pitchFamily="18" charset="0"/>
                      </a:rPr>
                      <m:t>증</m:t>
                    </m:r>
                  </m:oMath>
                </a14:m>
                <a:r>
                  <a:rPr lang="ko-KR" altLang="en-US" dirty="0"/>
                  <a:t>가</a:t>
                </a:r>
                <a:endParaRPr lang="en-US" altLang="ko-KR" dirty="0"/>
              </a:p>
              <a:p>
                <a:pPr marL="0" indent="0">
                  <a:buNone/>
                </a:pPr>
                <a:endParaRPr lang="en-US" altLang="ko-KR" dirty="0"/>
              </a:p>
              <a:p>
                <a:pPr marL="0" indent="0">
                  <a:buNone/>
                </a:pPr>
                <a:r>
                  <a:rPr lang="ko-KR" altLang="en-US" dirty="0"/>
                  <a:t>                        </a:t>
                </a:r>
                <a:r>
                  <a:rPr lang="en-US" altLang="ko-KR" dirty="0"/>
                  <a:t>                                 </a:t>
                </a:r>
              </a:p>
            </p:txBody>
          </p:sp>
        </mc:Choice>
        <mc:Fallback>
          <p:sp>
            <p:nvSpPr>
              <p:cNvPr id="4" name="세로 텍스트 개체 틀 2">
                <a:extLst>
                  <a:ext uri="{FF2B5EF4-FFF2-40B4-BE49-F238E27FC236}">
                    <a16:creationId xmlns:a16="http://schemas.microsoft.com/office/drawing/2014/main" id="{6E3EBA32-367F-49E1-9101-FC4BF1B9B60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orient="vert" idx="1"/>
              </p:nvPr>
            </p:nvSpPr>
            <p:spPr>
              <a:xfrm>
                <a:off x="157018" y="166254"/>
                <a:ext cx="11776364" cy="6539345"/>
              </a:xfrm>
              <a:blipFill>
                <a:blip r:embed="rId2"/>
                <a:stretch>
                  <a:fillRect l="-1087" t="-158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그림 6">
            <a:extLst>
              <a:ext uri="{FF2B5EF4-FFF2-40B4-BE49-F238E27FC236}">
                <a16:creationId xmlns:a16="http://schemas.microsoft.com/office/drawing/2014/main" id="{C764FF20-BF88-485A-ADEC-4A7EF8348D2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618" y="883071"/>
            <a:ext cx="1949720" cy="2405074"/>
          </a:xfrm>
          <a:prstGeom prst="rect">
            <a:avLst/>
          </a:prstGeom>
        </p:spPr>
      </p:pic>
      <p:pic>
        <p:nvPicPr>
          <p:cNvPr id="2050" name="_x401844848">
            <a:extLst>
              <a:ext uri="{FF2B5EF4-FFF2-40B4-BE49-F238E27FC236}">
                <a16:creationId xmlns:a16="http://schemas.microsoft.com/office/drawing/2014/main" id="{A58FE541-568E-43D1-B976-393E3AD1E2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5419" y="1388629"/>
            <a:ext cx="2111375" cy="307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49" name="_x401844920">
            <a:extLst>
              <a:ext uri="{FF2B5EF4-FFF2-40B4-BE49-F238E27FC236}">
                <a16:creationId xmlns:a16="http://schemas.microsoft.com/office/drawing/2014/main" id="{F0DA4022-1304-4BDC-9AD6-927509F3E2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5419" y="2153804"/>
            <a:ext cx="2927350" cy="307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3">
            <a:extLst>
              <a:ext uri="{FF2B5EF4-FFF2-40B4-BE49-F238E27FC236}">
                <a16:creationId xmlns:a16="http://schemas.microsoft.com/office/drawing/2014/main" id="{20FDF9A7-DCA8-4FBE-A1C8-250ECCF8F4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B9EDCC2A-10B0-462C-A89D-9CCD54A152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765175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0" name="Rectangle 6">
            <a:extLst>
              <a:ext uri="{FF2B5EF4-FFF2-40B4-BE49-F238E27FC236}">
                <a16:creationId xmlns:a16="http://schemas.microsoft.com/office/drawing/2014/main" id="{7744AA15-21AE-48F6-9B56-21A923EBF2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1" name="Rectangle 8">
            <a:extLst>
              <a:ext uri="{FF2B5EF4-FFF2-40B4-BE49-F238E27FC236}">
                <a16:creationId xmlns:a16="http://schemas.microsoft.com/office/drawing/2014/main" id="{550F5392-87D0-4941-8EB1-3F54DB37F3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95419" y="227965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2055" name="_x401851688">
            <a:extLst>
              <a:ext uri="{FF2B5EF4-FFF2-40B4-BE49-F238E27FC236}">
                <a16:creationId xmlns:a16="http://schemas.microsoft.com/office/drawing/2014/main" id="{09BB9FDE-A4A6-49B3-AFB8-38ABE1E52A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5419" y="2736850"/>
            <a:ext cx="2286000" cy="692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 10">
            <a:extLst>
              <a:ext uri="{FF2B5EF4-FFF2-40B4-BE49-F238E27FC236}">
                <a16:creationId xmlns:a16="http://schemas.microsoft.com/office/drawing/2014/main" id="{0DE1DA7C-807E-49DE-8CE1-13D3825FF0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2057" name="_x401843336">
            <a:extLst>
              <a:ext uri="{FF2B5EF4-FFF2-40B4-BE49-F238E27FC236}">
                <a16:creationId xmlns:a16="http://schemas.microsoft.com/office/drawing/2014/main" id="{10807300-6C20-433C-8FE5-B2CA141658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5563" y="4299527"/>
            <a:ext cx="266700" cy="307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775621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세로 텍스트 개체 틀 2">
                <a:extLst>
                  <a:ext uri="{FF2B5EF4-FFF2-40B4-BE49-F238E27FC236}">
                    <a16:creationId xmlns:a16="http://schemas.microsoft.com/office/drawing/2014/main" id="{D12FB7F4-0C53-4BB2-B236-5A33FD9A2D50}"/>
                  </a:ext>
                </a:extLst>
              </p:cNvPr>
              <p:cNvSpPr>
                <a:spLocks noGrp="1"/>
              </p:cNvSpPr>
              <p:nvPr>
                <p:ph type="body" orient="vert" idx="1"/>
              </p:nvPr>
            </p:nvSpPr>
            <p:spPr>
              <a:xfrm>
                <a:off x="838200" y="461818"/>
                <a:ext cx="10515600" cy="5715145"/>
              </a:xfrm>
            </p:spPr>
            <p:txBody>
              <a:bodyPr vert="horz"/>
              <a:lstStyle/>
              <a:p>
                <a:pPr marL="0" indent="0">
                  <a:buNone/>
                </a:pPr>
                <a:r>
                  <a:rPr lang="ko-KR" altLang="en-US" dirty="0"/>
                  <a:t>채널 길이 변조 효과</a:t>
                </a:r>
                <a:r>
                  <a:rPr lang="en-US" altLang="ko-KR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𝐷𝑆</m:t>
                        </m:r>
                      </m:sub>
                    </m:sSub>
                  </m:oMath>
                </a14:m>
                <a:r>
                  <a:rPr lang="ko-KR" altLang="en-US" dirty="0"/>
                  <a:t>증가 </a:t>
                </a:r>
                <a:r>
                  <a:rPr lang="en-US" altLang="ko-KR" dirty="0"/>
                  <a:t>-&gt;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𝐷𝑄</m:t>
                        </m:r>
                      </m:sub>
                    </m:sSub>
                    <m:r>
                      <a:rPr lang="ko-KR" altLang="en-US" i="1">
                        <a:latin typeface="Cambria Math" panose="02040503050406030204" pitchFamily="18" charset="0"/>
                      </a:rPr>
                      <m:t>증</m:t>
                    </m:r>
                  </m:oMath>
                </a14:m>
                <a:r>
                  <a:rPr lang="ko-KR" altLang="en-US" dirty="0"/>
                  <a:t>가</a:t>
                </a:r>
                <a:r>
                  <a:rPr lang="en-US" altLang="ko-KR" dirty="0"/>
                  <a:t>)</a:t>
                </a:r>
              </a:p>
              <a:p>
                <a:pPr marL="0" indent="0">
                  <a:buNone/>
                </a:pPr>
                <a:endParaRPr lang="en-US" altLang="ko-KR" dirty="0"/>
              </a:p>
              <a:p>
                <a:pPr marL="0" indent="0">
                  <a:buNone/>
                </a:pPr>
                <a:endParaRPr lang="en-US" altLang="ko-KR" dirty="0"/>
              </a:p>
              <a:p>
                <a:pPr marL="0" indent="0">
                  <a:buNone/>
                </a:pPr>
                <a:endParaRPr lang="en-US" altLang="ko-KR" dirty="0"/>
              </a:p>
              <a:p>
                <a:pPr marL="0" indent="0">
                  <a:buNone/>
                </a:pPr>
                <a:endParaRPr lang="en-US" altLang="ko-KR" dirty="0"/>
              </a:p>
              <a:p>
                <a:pPr marL="0" indent="0">
                  <a:buNone/>
                </a:pPr>
                <a:endParaRPr lang="en-US" altLang="ko-KR" dirty="0"/>
              </a:p>
              <a:p>
                <a:pPr marL="0" indent="0">
                  <a:buNone/>
                </a:pPr>
                <a:endParaRPr lang="en-US" altLang="ko-KR" dirty="0"/>
              </a:p>
              <a:p>
                <a:pPr marL="0" indent="0">
                  <a:buNone/>
                </a:pPr>
                <a:endParaRPr lang="en-US" altLang="ko-KR" i="1" dirty="0"/>
              </a:p>
              <a:p>
                <a:pPr marL="0" indent="0">
                  <a:buNone/>
                </a:pPr>
                <a:endParaRPr lang="en-US" altLang="ko-KR" dirty="0"/>
              </a:p>
              <a:p>
                <a:pPr marL="0" indent="0">
                  <a:buNone/>
                </a:pPr>
                <a:endParaRPr lang="en-US" altLang="ko-KR" dirty="0"/>
              </a:p>
              <a:p>
                <a:pPr marL="0" indent="0">
                  <a:buNone/>
                </a:pPr>
                <a:endParaRPr lang="en-US" altLang="ko-KR" dirty="0"/>
              </a:p>
              <a:p>
                <a:pPr marL="0" indent="0">
                  <a:buNone/>
                </a:pPr>
                <a:endParaRPr lang="en-US" altLang="ko-KR" dirty="0"/>
              </a:p>
              <a:p>
                <a:pPr marL="0" indent="0">
                  <a:buNone/>
                </a:pPr>
                <a:endParaRPr lang="en-US" altLang="ko-KR" dirty="0"/>
              </a:p>
              <a:p>
                <a:pPr marL="0" indent="0">
                  <a:buNone/>
                </a:pPr>
                <a:endParaRPr lang="en-US" altLang="ko-KR" dirty="0"/>
              </a:p>
              <a:p>
                <a:pPr marL="0" indent="0">
                  <a:buNone/>
                </a:pPr>
                <a:endParaRPr lang="ko-KR" altLang="en-US" dirty="0"/>
              </a:p>
            </p:txBody>
          </p:sp>
        </mc:Choice>
        <mc:Fallback>
          <p:sp>
            <p:nvSpPr>
              <p:cNvPr id="3" name="세로 텍스트 개체 틀 2">
                <a:extLst>
                  <a:ext uri="{FF2B5EF4-FFF2-40B4-BE49-F238E27FC236}">
                    <a16:creationId xmlns:a16="http://schemas.microsoft.com/office/drawing/2014/main" id="{D12FB7F4-0C53-4BB2-B236-5A33FD9A2D5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orient="vert" idx="1"/>
              </p:nvPr>
            </p:nvSpPr>
            <p:spPr>
              <a:xfrm>
                <a:off x="838200" y="461818"/>
                <a:ext cx="10515600" cy="5715145"/>
              </a:xfrm>
              <a:blipFill>
                <a:blip r:embed="rId2"/>
                <a:stretch>
                  <a:fillRect l="-1217" t="-181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그림 4">
            <a:extLst>
              <a:ext uri="{FF2B5EF4-FFF2-40B4-BE49-F238E27FC236}">
                <a16:creationId xmlns:a16="http://schemas.microsoft.com/office/drawing/2014/main" id="{E21D5AAF-86A5-465B-9CB2-05ED44FD060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75" t="5322" r="-6875" b="4332"/>
          <a:stretch/>
        </p:blipFill>
        <p:spPr>
          <a:xfrm>
            <a:off x="255931" y="1566339"/>
            <a:ext cx="5840069" cy="2682389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C58A895-D86D-4D60-A30B-54A9F6EBAA91}"/>
                  </a:ext>
                </a:extLst>
              </p:cNvPr>
              <p:cNvSpPr txBox="1"/>
              <p:nvPr/>
            </p:nvSpPr>
            <p:spPr>
              <a:xfrm>
                <a:off x="6096000" y="2669269"/>
                <a:ext cx="5772727" cy="10159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dirty="0"/>
                  <a:t>소신호 </a:t>
                </a:r>
                <a:r>
                  <a:rPr lang="ko-KR" altLang="en-US" dirty="0" err="1"/>
                  <a:t>드레인</a:t>
                </a:r>
                <a:r>
                  <a:rPr lang="ko-KR" altLang="en-US" dirty="0"/>
                  <a:t> 저항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,   </m:t>
                    </m:r>
                    <m:f>
                      <m:f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sub>
                        </m:sSub>
                      </m:den>
                    </m:f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"/>
                            <m:endChr m:val="|"/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𝑑𝑖</m:t>
                                    </m:r>
                                  </m:e>
                                  <m:sub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𝐷𝑆</m:t>
                                    </m:r>
                                  </m:sub>
                                </m:sSub>
                              </m:num>
                              <m:den>
                                <m:sSub>
                                  <m:sSub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𝑑𝑣</m:t>
                                    </m:r>
                                  </m:e>
                                  <m:sub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𝐷𝑆</m:t>
                                    </m:r>
                                  </m:sub>
                                </m:sSub>
                              </m:den>
                            </m:f>
                          </m:e>
                        </m:d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점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 ,  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𝐷𝑄</m:t>
                            </m:r>
                          </m:sub>
                        </m:sSub>
                      </m:den>
                    </m:f>
                  </m:oMath>
                </a14:m>
                <a:endParaRPr lang="en-US" altLang="ko-KR" b="0" dirty="0"/>
              </a:p>
              <a:p>
                <a:r>
                  <a:rPr lang="ko-KR" altLang="en-US" dirty="0" err="1"/>
                  <a:t>얼리</a:t>
                </a:r>
                <a:r>
                  <a:rPr lang="ko-KR" altLang="en-US" dirty="0"/>
                  <a:t> 전압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ko-KR" altLang="en-US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</m:den>
                    </m:f>
                  </m:oMath>
                </a14:m>
                <a:endParaRPr lang="ko-KR" altLang="en-US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C58A895-D86D-4D60-A30B-54A9F6EBAA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2669269"/>
                <a:ext cx="5772727" cy="1015919"/>
              </a:xfrm>
              <a:prstGeom prst="rect">
                <a:avLst/>
              </a:prstGeom>
              <a:blipFill>
                <a:blip r:embed="rId4"/>
                <a:stretch>
                  <a:fillRect l="-845" t="-85629" b="-7485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909571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AA56FF6B-698D-4A52-BD9E-4D57F03D98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3075" name="_x407585288">
            <a:extLst>
              <a:ext uri="{FF2B5EF4-FFF2-40B4-BE49-F238E27FC236}">
                <a16:creationId xmlns:a16="http://schemas.microsoft.com/office/drawing/2014/main" id="{3D7432C3-0A16-49A5-840D-E9FF6C4CCA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897" y="381659"/>
            <a:ext cx="3940175" cy="3508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654FB95-B4D3-4C72-A585-2DB1324894E9}"/>
              </a:ext>
            </a:extLst>
          </p:cNvPr>
          <p:cNvSpPr txBox="1"/>
          <p:nvPr/>
        </p:nvSpPr>
        <p:spPr>
          <a:xfrm>
            <a:off x="6495" y="320302"/>
            <a:ext cx="1219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                                                </a:t>
            </a:r>
            <a:r>
              <a:rPr lang="ko-KR" altLang="en-US" dirty="0"/>
              <a:t>일 때</a:t>
            </a:r>
            <a:r>
              <a:rPr lang="en-US" altLang="ko-KR" dirty="0"/>
              <a:t>,               </a:t>
            </a:r>
            <a:r>
              <a:rPr lang="ko-KR" altLang="en-US" dirty="0"/>
              <a:t>인가 시 </a:t>
            </a:r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6835C1A-128A-458D-B409-58C097C518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3077" name="_x407557928">
            <a:extLst>
              <a:ext uri="{FF2B5EF4-FFF2-40B4-BE49-F238E27FC236}">
                <a16:creationId xmlns:a16="http://schemas.microsoft.com/office/drawing/2014/main" id="{DC21C350-1B01-43A3-B058-884427A3D4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8182" y="381660"/>
            <a:ext cx="1130300" cy="307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8">
            <a:extLst>
              <a:ext uri="{FF2B5EF4-FFF2-40B4-BE49-F238E27FC236}">
                <a16:creationId xmlns:a16="http://schemas.microsoft.com/office/drawing/2014/main" id="{FE97D6A5-63BE-4C2F-80DC-94609FE503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3079" name="_x407600696">
            <a:extLst>
              <a:ext uri="{FF2B5EF4-FFF2-40B4-BE49-F238E27FC236}">
                <a16:creationId xmlns:a16="http://schemas.microsoft.com/office/drawing/2014/main" id="{34FD00DE-ED35-445B-8760-E5DA60FBF3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72984" y="381659"/>
            <a:ext cx="285750" cy="307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그림 11" descr="텍스트이(가) 표시된 사진&#10;&#10;자동 생성된 설명">
            <a:extLst>
              <a:ext uri="{FF2B5EF4-FFF2-40B4-BE49-F238E27FC236}">
                <a16:creationId xmlns:a16="http://schemas.microsoft.com/office/drawing/2014/main" id="{352A7C3A-201C-4009-A2A9-06E5F94C6E1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411914"/>
            <a:ext cx="6096001" cy="2716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20941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77</Words>
  <Application>Microsoft Office PowerPoint</Application>
  <PresentationFormat>와이드스크린</PresentationFormat>
  <Paragraphs>34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8" baseType="lpstr">
      <vt:lpstr>맑은 고딕</vt:lpstr>
      <vt:lpstr>Arial</vt:lpstr>
      <vt:lpstr>Cambria Math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안준영</dc:creator>
  <cp:lastModifiedBy>안준영</cp:lastModifiedBy>
  <cp:revision>2</cp:revision>
  <dcterms:created xsi:type="dcterms:W3CDTF">2021-11-25T01:04:22Z</dcterms:created>
  <dcterms:modified xsi:type="dcterms:W3CDTF">2021-11-25T01:50:30Z</dcterms:modified>
</cp:coreProperties>
</file>