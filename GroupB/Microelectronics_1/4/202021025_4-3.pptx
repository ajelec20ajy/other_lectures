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71F768-6798-4696-BFAF-553C8C316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7A8A11A-EC7C-4974-9D54-93FCA93BC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B8BA92-4C95-4F23-A2C0-1B07585D2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B84A2-FFEE-490B-9086-609DA1C74B75}" type="datetimeFigureOut">
              <a:rPr lang="ko-KR" altLang="en-US" smtClean="0"/>
              <a:t>2021-10-13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4F6DDA-AE26-430F-AD36-C58042640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D7551C-7A53-4E4A-938A-194969E7B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8F70-D644-4368-AB5C-4218D4A7E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763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3D4220-EF45-48D6-8ED2-2420AF193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35EFA8-57BA-4A40-9038-D38C006A6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C6E868-5589-484E-ABA7-9C6AA8A1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B84A2-FFEE-490B-9086-609DA1C74B75}" type="datetimeFigureOut">
              <a:rPr lang="ko-KR" altLang="en-US" smtClean="0"/>
              <a:t>2021-10-13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40570F-C1BC-4946-B75E-2C26B329A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FC9B9A-7D99-4060-83C5-D5507E3B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8F70-D644-4368-AB5C-4218D4A7E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077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7982A-8AEF-4540-BA55-C66BFBE6F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3591E6-0C7E-486A-A37E-DCE30C8FD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98E300-1D32-409C-B14D-80F4B806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B84A2-FFEE-490B-9086-609DA1C74B75}" type="datetimeFigureOut">
              <a:rPr lang="ko-KR" altLang="en-US" smtClean="0"/>
              <a:t>2021-10-13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5F767A-1499-4DC5-9B6C-EB33AA48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247BE9-7D94-4DFE-9035-09CC6152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8F70-D644-4368-AB5C-4218D4A7E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409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01CD0-29AA-49AC-A2F3-13A16AB7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C19740-0247-4538-90C7-EAD28D79C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627CB7-81F2-495D-879B-FC5FDD42B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A149D5-7F2E-43EB-981C-3E4C4C94C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B84A2-FFEE-490B-9086-609DA1C74B75}" type="datetimeFigureOut">
              <a:rPr lang="ko-KR" altLang="en-US" smtClean="0"/>
              <a:t>2021-10-13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0A10B5-B139-47B3-A71B-48E6A51ED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BD322F-2ADA-41C4-AF62-ABE5A783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8F70-D644-4368-AB5C-4218D4A7E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500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3FBC7A-C127-47C4-B6F8-3CCE5784D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8736D3-70E1-4299-A02B-DAA5290CD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89ECE2-B43D-4FD0-8E09-AFE370D20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6D09E0-701F-4ED5-BF8D-0D00D6FF6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2565236-0071-46D5-A653-7882BE261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1600F1D-0C64-433B-AF65-C671CDF70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B84A2-FFEE-490B-9086-609DA1C74B75}" type="datetimeFigureOut">
              <a:rPr lang="ko-KR" altLang="en-US" smtClean="0"/>
              <a:t>2021-10-13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8C6DE4-CDBD-4102-85AC-33C17FC4C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B41C6A-B80C-4A99-838F-F0F064350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8F70-D644-4368-AB5C-4218D4A7E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19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0441B-D953-4D18-956B-5BEAF1F0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BF2FB0F-8C53-48A4-A324-406DE55F3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B84A2-FFEE-490B-9086-609DA1C74B75}" type="datetimeFigureOut">
              <a:rPr lang="ko-KR" altLang="en-US" smtClean="0"/>
              <a:t>2021-10-13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C8C124-64CF-4270-9DB2-714B3BC5D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DD6E1A-6D90-405F-B595-B7951B19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8F70-D644-4368-AB5C-4218D4A7E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32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0438276-9338-40EF-8C88-77F8A3E6C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B84A2-FFEE-490B-9086-609DA1C74B75}" type="datetimeFigureOut">
              <a:rPr lang="ko-KR" altLang="en-US" smtClean="0"/>
              <a:t>2021-10-13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E36134-5083-40A9-9D4E-D8C0A708A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5ACDAF-F5A2-4F27-B2E6-8788EDC62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8F70-D644-4368-AB5C-4218D4A7E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399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2570F3-F1E2-407F-A00D-3D4BD60BE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8FD2E6-3BAB-4A84-9F77-08C8FDE18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6EC170-F38A-4DED-9D1E-32B4C6266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DF505-6FFF-47E6-97B1-97C679C8B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B84A2-FFEE-490B-9086-609DA1C74B75}" type="datetimeFigureOut">
              <a:rPr lang="ko-KR" altLang="en-US" smtClean="0"/>
              <a:t>2021-10-13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D0CB89-26F8-4F67-84FC-2168956CD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9F79FA-67C3-49E4-936F-94E3E98E5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8F70-D644-4368-AB5C-4218D4A7E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91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F9BAA9-ACDB-4257-A562-8EB7891B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9D85C6-6988-417C-9BD6-6A09B3B3F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DA17CE-B8D8-492D-93F1-50A915A55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2D69E9-EC68-4CFE-8ACF-0F7F665F8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B84A2-FFEE-490B-9086-609DA1C74B75}" type="datetimeFigureOut">
              <a:rPr lang="ko-KR" altLang="en-US" smtClean="0"/>
              <a:t>2021-10-13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E72B98-EBEB-4C11-96C8-D49CC4C96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73D624-9952-41EC-9C72-A9FDB21D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8F70-D644-4368-AB5C-4218D4A7E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94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3D25ED-F5F7-4763-9A25-C594726B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4C2782-5384-4FB4-801F-49962F913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9C0FED-4DFF-4EE0-8DDC-83ABB0676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B84A2-FFEE-490B-9086-609DA1C74B75}" type="datetimeFigureOut">
              <a:rPr lang="ko-KR" altLang="en-US" smtClean="0"/>
              <a:t>2021-10-13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C58564-50F2-4A6B-BA96-9E1B83981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6D8877-74D6-4402-9FD8-40D829AF4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8F70-D644-4368-AB5C-4218D4A7E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51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57BD933-B2C3-40E1-A5DD-28850C450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E2C3B9B-7379-4C17-A1FC-0DB3DB1E4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83EDF8-B67D-4860-99D3-3475228B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B84A2-FFEE-490B-9086-609DA1C74B75}" type="datetimeFigureOut">
              <a:rPr lang="ko-KR" altLang="en-US" smtClean="0"/>
              <a:t>2021-10-13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CC631D-7315-43FB-B36A-5EB350129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504953-D786-42CD-AFDD-A3A8885A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8F70-D644-4368-AB5C-4218D4A7E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90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213CAD-3E6F-4026-9A5B-04D2C236E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5B9282-C0E0-4C69-9507-AD782F8DA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55F868-B89E-43C6-81A2-97B7153A60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B84A2-FFEE-490B-9086-609DA1C74B75}" type="datetimeFigureOut">
              <a:rPr lang="ko-KR" altLang="en-US" smtClean="0"/>
              <a:t>2021-10-13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3B5E58-9CD3-4EB2-83BC-987984F4A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44C100-B964-4B0D-BEFD-98B621261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58F70-D644-4368-AB5C-4218D4A7E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2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BE986A-8F04-4C78-A501-AC3630459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2878667" cy="711200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1. </a:t>
            </a:r>
            <a:r>
              <a:rPr lang="ko-KR" altLang="en-US" sz="2800" dirty="0" err="1"/>
              <a:t>소신호</a:t>
            </a:r>
            <a:r>
              <a:rPr lang="ko-KR" altLang="en-US" sz="2800" dirty="0"/>
              <a:t> 저항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세로 텍스트 개체 틀 2">
                <a:extLst>
                  <a:ext uri="{FF2B5EF4-FFF2-40B4-BE49-F238E27FC236}">
                    <a16:creationId xmlns:a16="http://schemas.microsoft.com/office/drawing/2014/main" id="{B2E21361-FD6B-48FA-879B-9C171237AF00}"/>
                  </a:ext>
                </a:extLst>
              </p:cNvPr>
              <p:cNvSpPr>
                <a:spLocks noGrp="1"/>
              </p:cNvSpPr>
              <p:nvPr>
                <p:ph type="body" orient="vert" idx="1"/>
              </p:nvPr>
            </p:nvSpPr>
            <p:spPr>
              <a:xfrm>
                <a:off x="0" y="566929"/>
                <a:ext cx="12014201" cy="6291070"/>
              </a:xfrm>
            </p:spPr>
            <p:txBody>
              <a:bodyPr vert="horz">
                <a:normAutofit lnSpcReduction="10000"/>
              </a:bodyPr>
              <a:lstStyle/>
              <a:p>
                <a:pPr marL="342900" indent="-342900">
                  <a:buAutoNum type="arabicPeriod"/>
                </a:pPr>
                <a:r>
                  <a:rPr lang="ko-KR" altLang="en-US" sz="1800" dirty="0"/>
                  <a:t>전달 </a:t>
                </a:r>
                <a:r>
                  <a:rPr lang="ko-KR" altLang="en-US" sz="1800" dirty="0" err="1"/>
                  <a:t>컨덕턴스</a:t>
                </a:r>
                <a:r>
                  <a:rPr lang="ko-KR" alt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altLang="ko-KR" sz="1800" dirty="0"/>
              </a:p>
              <a:p>
                <a:pPr marL="0" indent="0">
                  <a:buNone/>
                </a:pPr>
                <a:r>
                  <a:rPr lang="en-US" altLang="ko-KR" sz="1800" dirty="0"/>
                  <a:t>    </a:t>
                </a:r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r>
                  <a:rPr lang="en-US" altLang="ko-KR" sz="1800" dirty="0"/>
                  <a:t>2. </a:t>
                </a:r>
                <a:r>
                  <a:rPr lang="ko-KR" altLang="en-US" sz="1800" dirty="0"/>
                  <a:t>베이스</a:t>
                </a:r>
                <a:r>
                  <a:rPr lang="en-US" altLang="ko-KR" sz="1800" dirty="0"/>
                  <a:t>-</a:t>
                </a:r>
                <a:r>
                  <a:rPr lang="ko-KR" altLang="en-US" sz="1800" dirty="0" err="1"/>
                  <a:t>이미터</a:t>
                </a:r>
                <a:r>
                  <a:rPr lang="ko-KR" altLang="en-US" sz="1800" dirty="0"/>
                  <a:t> </a:t>
                </a:r>
                <a:r>
                  <a:rPr lang="ko-KR" altLang="en-US" sz="1800" dirty="0" err="1"/>
                  <a:t>소신호</a:t>
                </a:r>
                <a:r>
                  <a:rPr lang="ko-KR" altLang="en-US" sz="1800" dirty="0"/>
                  <a:t> 저항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ko-KR" altLang="en-US" sz="18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ko-KR" sz="1800" i="1" dirty="0">
                    <a:latin typeface="Cambria Math" panose="02040503050406030204" pitchFamily="18" charset="0"/>
                  </a:rPr>
                  <a:t>  </a:t>
                </a:r>
              </a:p>
              <a:p>
                <a:pPr marL="0" indent="0">
                  <a:buNone/>
                </a:pPr>
                <a:r>
                  <a:rPr lang="en-US" altLang="ko-KR" sz="1800" i="1" dirty="0">
                    <a:latin typeface="Cambria Math" panose="02040503050406030204" pitchFamily="18" charset="0"/>
                  </a:rPr>
                  <a:t>       </a:t>
                </a:r>
                <a:r>
                  <a:rPr lang="en-US" altLang="ko-KR" sz="1800" dirty="0">
                    <a:latin typeface="Cambria Math" panose="02040503050406030204" pitchFamily="18" charset="0"/>
                  </a:rPr>
                  <a:t>: </a:t>
                </a:r>
                <a:r>
                  <a:rPr lang="ko-KR" altLang="en-US" sz="1800" dirty="0">
                    <a:latin typeface="Cambria Math" panose="02040503050406030204" pitchFamily="18" charset="0"/>
                  </a:rPr>
                  <a:t>베이스 단자에서 본 </a:t>
                </a:r>
                <a:r>
                  <a:rPr lang="en-US" altLang="ko-KR" sz="1800" dirty="0">
                    <a:latin typeface="Cambria Math" panose="02040503050406030204" pitchFamily="18" charset="0"/>
                  </a:rPr>
                  <a:t>B-E </a:t>
                </a:r>
                <a:r>
                  <a:rPr lang="ko-KR" altLang="en-US" sz="1800" dirty="0" err="1">
                    <a:latin typeface="Cambria Math" panose="02040503050406030204" pitchFamily="18" charset="0"/>
                  </a:rPr>
                  <a:t>소신호</a:t>
                </a:r>
                <a:r>
                  <a:rPr lang="ko-KR" altLang="en-US" sz="1800" dirty="0">
                    <a:latin typeface="Cambria Math" panose="02040503050406030204" pitchFamily="18" charset="0"/>
                  </a:rPr>
                  <a:t> 등가저항</a:t>
                </a:r>
                <a:endParaRPr lang="en-US" altLang="ko-KR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ko-KR" altLang="en-US" sz="18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|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𝑑𝑣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𝐵𝐸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𝑑𝑖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altLang="ko-KR" sz="1800" dirty="0"/>
                  <a:t>Q</a:t>
                </a:r>
                <a:r>
                  <a:rPr lang="ko-KR" altLang="en-US" sz="1800" dirty="0"/>
                  <a:t>점</a:t>
                </a:r>
                <a:r>
                  <a:rPr lang="en-US" altLang="ko-KR" sz="18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altLang="ko-KR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𝐵𝐸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altLang="ko-KR" sz="18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r>
                  <a:rPr lang="en-US" altLang="ko-KR" sz="1800" dirty="0"/>
                  <a:t>3. </a:t>
                </a:r>
                <a:r>
                  <a:rPr lang="ko-KR" altLang="en-US" sz="1800" dirty="0" err="1"/>
                  <a:t>소신호</a:t>
                </a:r>
                <a:r>
                  <a:rPr lang="ko-KR" altLang="en-US" sz="1800" dirty="0"/>
                  <a:t> </a:t>
                </a:r>
                <a:r>
                  <a:rPr lang="ko-KR" altLang="en-US" sz="1800" dirty="0" err="1"/>
                  <a:t>컬렉터</a:t>
                </a:r>
                <a:r>
                  <a:rPr lang="ko-KR" altLang="en-US" sz="1800" dirty="0"/>
                  <a:t> 저항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altLang="ko-KR" sz="1800" dirty="0"/>
              </a:p>
              <a:p>
                <a:pPr marL="0" indent="0">
                  <a:buNone/>
                </a:pPr>
                <a:r>
                  <a:rPr lang="en-US" altLang="ko-KR" sz="1800" dirty="0"/>
                  <a:t>   : </a:t>
                </a:r>
                <a:r>
                  <a:rPr lang="ko-KR" altLang="en-US" sz="1800" dirty="0" err="1"/>
                  <a:t>컬렉터</a:t>
                </a:r>
                <a:r>
                  <a:rPr lang="ko-KR" altLang="en-US" sz="1800" dirty="0"/>
                  <a:t> 단자에서 본 </a:t>
                </a:r>
                <a:r>
                  <a:rPr lang="en-US" altLang="ko-KR" sz="1800" dirty="0"/>
                  <a:t>C-E </a:t>
                </a:r>
                <a:r>
                  <a:rPr lang="ko-KR" altLang="en-US" sz="1800" dirty="0" err="1"/>
                  <a:t>소신호</a:t>
                </a:r>
                <a:r>
                  <a:rPr lang="ko-KR" altLang="en-US" sz="1800" dirty="0"/>
                  <a:t> 등가 저항</a:t>
                </a:r>
                <a:endParaRPr lang="en-US" altLang="ko-KR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|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𝐶𝐸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altLang="ko-KR" sz="1800" dirty="0"/>
                  <a:t>Q</a:t>
                </a:r>
                <a:r>
                  <a:rPr lang="ko-KR" altLang="en-US" sz="1800" dirty="0"/>
                  <a:t>점</a:t>
                </a:r>
                <a14:m>
                  <m:oMath xmlns:m="http://schemas.openxmlformats.org/officeDocument/2006/math">
                    <m:r>
                      <a:rPr lang="en-US" altLang="ko-K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f>
                      <m:f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𝐶𝑄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800" dirty="0"/>
                  <a:t> </a:t>
                </a:r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r>
                  <a:rPr lang="en-US" altLang="ko-KR" sz="1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sz="1800" dirty="0"/>
                  <a:t>:</a:t>
                </a:r>
                <a:r>
                  <a:rPr lang="ko-KR" altLang="en-US" sz="1800" dirty="0" err="1"/>
                  <a:t>얼리</a:t>
                </a:r>
                <a:r>
                  <a:rPr lang="ko-KR" altLang="en-US" sz="1800" dirty="0"/>
                  <a:t> 전압</a:t>
                </a:r>
                <a:r>
                  <a:rPr lang="en-US" altLang="ko-KR" sz="1800" dirty="0"/>
                  <a:t>, </a:t>
                </a:r>
                <a:r>
                  <a:rPr lang="ko-KR" altLang="en-US" sz="1800" dirty="0" err="1"/>
                  <a:t>얼리</a:t>
                </a:r>
                <a:r>
                  <a:rPr lang="ko-KR" altLang="en-US" sz="1800" dirty="0"/>
                  <a:t> 효과 </a:t>
                </a:r>
                <a:r>
                  <a:rPr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𝐶𝐸</m:t>
                        </m:r>
                      </m:sub>
                    </m:sSub>
                  </m:oMath>
                </a14:m>
                <a:r>
                  <a:rPr lang="ko-KR" altLang="en-US" sz="1800" dirty="0"/>
                  <a:t>가 증가하면서 </a:t>
                </a:r>
                <a:r>
                  <a:rPr lang="en-US" altLang="ko-KR" sz="1800" dirty="0"/>
                  <a:t>B-E </a:t>
                </a:r>
                <a:r>
                  <a:rPr lang="ko-KR" altLang="en-US" sz="1800" dirty="0"/>
                  <a:t>접합 </a:t>
                </a:r>
                <a:r>
                  <a:rPr lang="ko-KR" altLang="en-US" sz="1800" dirty="0" err="1"/>
                  <a:t>공핍</a:t>
                </a:r>
                <a:r>
                  <a:rPr lang="ko-KR" altLang="en-US" sz="1800" dirty="0"/>
                  <a:t> 영역이 커지고 유효</a:t>
                </a:r>
                <a:endParaRPr lang="en-US" altLang="ko-KR" sz="1800" dirty="0"/>
              </a:p>
              <a:p>
                <a:pPr marL="0" indent="0">
                  <a:buNone/>
                </a:pPr>
                <a:r>
                  <a:rPr lang="ko-KR" altLang="en-US" sz="1800" dirty="0"/>
                  <a:t> 베이스폭이 감소하면서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ko-KR" altLang="en-US" sz="1800" dirty="0"/>
                  <a:t>가 증가하는 효과</a:t>
                </a:r>
                <a:r>
                  <a:rPr lang="en-US" altLang="ko-KR" sz="1800" dirty="0"/>
                  <a:t>)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>
          <p:sp>
            <p:nvSpPr>
              <p:cNvPr id="3" name="세로 텍스트 개체 틀 2">
                <a:extLst>
                  <a:ext uri="{FF2B5EF4-FFF2-40B4-BE49-F238E27FC236}">
                    <a16:creationId xmlns:a16="http://schemas.microsoft.com/office/drawing/2014/main" id="{B2E21361-FD6B-48FA-879B-9C171237AF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orient="vert" idx="1"/>
              </p:nvPr>
            </p:nvSpPr>
            <p:spPr>
              <a:xfrm>
                <a:off x="0" y="566929"/>
                <a:ext cx="12014201" cy="6291070"/>
              </a:xfrm>
              <a:blipFill>
                <a:blip r:embed="rId2"/>
                <a:stretch>
                  <a:fillRect l="-507" t="-17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EC70A122-2E03-4541-9E0C-F020BCD23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621" y="2276932"/>
            <a:ext cx="7183580" cy="22324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E237271-49EE-45D5-B8DA-9A4C330E9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3" y="977600"/>
            <a:ext cx="5833533" cy="106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95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C652B-6E85-4000-AF4E-54FFDFBFF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2"/>
            <a:ext cx="4216400" cy="676275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1. </a:t>
            </a:r>
            <a:r>
              <a:rPr lang="ko-KR" altLang="en-US" sz="2800" dirty="0" err="1"/>
              <a:t>소신호</a:t>
            </a:r>
            <a:r>
              <a:rPr lang="ko-KR" altLang="en-US" sz="2800" dirty="0"/>
              <a:t> 저항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세로 텍스트 개체 틀 2">
                <a:extLst>
                  <a:ext uri="{FF2B5EF4-FFF2-40B4-BE49-F238E27FC236}">
                    <a16:creationId xmlns:a16="http://schemas.microsoft.com/office/drawing/2014/main" id="{1FA40EBD-CDF9-46EB-8FB4-9C9C09728475}"/>
                  </a:ext>
                </a:extLst>
              </p:cNvPr>
              <p:cNvSpPr>
                <a:spLocks noGrp="1"/>
              </p:cNvSpPr>
              <p:nvPr>
                <p:ph type="body" orient="vert" idx="1"/>
              </p:nvPr>
            </p:nvSpPr>
            <p:spPr>
              <a:xfrm>
                <a:off x="0" y="1004359"/>
                <a:ext cx="10515600" cy="4351338"/>
              </a:xfrm>
            </p:spPr>
            <p:txBody>
              <a:bodyPr vert="horz"/>
              <a:lstStyle/>
              <a:p>
                <a:pPr marL="0" indent="0">
                  <a:buNone/>
                </a:pPr>
                <a:r>
                  <a:rPr lang="en-US" altLang="ko-KR" sz="1800" dirty="0"/>
                  <a:t>4. </a:t>
                </a:r>
                <a:r>
                  <a:rPr lang="ko-KR" altLang="en-US" sz="1800" dirty="0" err="1"/>
                  <a:t>소신호</a:t>
                </a:r>
                <a:r>
                  <a:rPr lang="ko-KR" altLang="en-US" sz="1800" dirty="0"/>
                  <a:t> </a:t>
                </a:r>
                <a:r>
                  <a:rPr lang="ko-KR" altLang="en-US" sz="1800" dirty="0" err="1"/>
                  <a:t>이미터</a:t>
                </a:r>
                <a:r>
                  <a:rPr lang="ko-KR" altLang="en-US" sz="1800" dirty="0"/>
                  <a:t> 저항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altLang="ko-KR" sz="1800" dirty="0"/>
              </a:p>
              <a:p>
                <a:pPr marL="0" indent="0">
                  <a:buNone/>
                </a:pPr>
                <a:r>
                  <a:rPr lang="ko-KR" altLang="en-US" sz="1800" dirty="0"/>
                  <a:t>   </a:t>
                </a:r>
                <a:r>
                  <a:rPr lang="en-US" altLang="ko-KR" sz="1800" dirty="0"/>
                  <a:t>: </a:t>
                </a:r>
                <a:r>
                  <a:rPr lang="ko-KR" altLang="en-US" sz="1800" dirty="0" err="1"/>
                  <a:t>이미터</a:t>
                </a:r>
                <a:r>
                  <a:rPr lang="ko-KR" altLang="en-US" sz="1800" dirty="0"/>
                  <a:t> 단자에서 본 </a:t>
                </a:r>
                <a:r>
                  <a:rPr lang="en-US" altLang="ko-KR" sz="1800" dirty="0"/>
                  <a:t>E-B </a:t>
                </a:r>
                <a:r>
                  <a:rPr lang="ko-KR" altLang="en-US" sz="1800" dirty="0" err="1"/>
                  <a:t>소신호</a:t>
                </a:r>
                <a:r>
                  <a:rPr lang="ko-KR" altLang="en-US" sz="1800" dirty="0"/>
                  <a:t> 등가저항</a:t>
                </a: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𝐵𝐸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den>
                    </m:f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𝐵𝐸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(1+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ko-KR" altLang="en-U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</m:num>
                      <m:den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(1+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ko-KR" sz="1800" b="0" dirty="0"/>
                  <a:t> </a:t>
                </a:r>
              </a:p>
              <a:p>
                <a:pPr marL="0" indent="0">
                  <a:buNone/>
                </a:pPr>
                <a:endParaRPr lang="en-US" altLang="ko-KR" sz="1800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𝐵𝐸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den>
                    </m:f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𝐸𝑄</m:t>
                            </m:r>
                          </m:sub>
                        </m:sSub>
                      </m:den>
                    </m:f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𝐶𝑄</m:t>
                            </m:r>
                          </m:sub>
                        </m:sSub>
                      </m:den>
                    </m:f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800" dirty="0"/>
                  <a:t> 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>
          <p:sp>
            <p:nvSpPr>
              <p:cNvPr id="3" name="세로 텍스트 개체 틀 2">
                <a:extLst>
                  <a:ext uri="{FF2B5EF4-FFF2-40B4-BE49-F238E27FC236}">
                    <a16:creationId xmlns:a16="http://schemas.microsoft.com/office/drawing/2014/main" id="{1FA40EBD-CDF9-46EB-8FB4-9C9C09728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orient="vert" idx="1"/>
              </p:nvPr>
            </p:nvSpPr>
            <p:spPr>
              <a:xfrm>
                <a:off x="0" y="1004359"/>
                <a:ext cx="10515600" cy="4351338"/>
              </a:xfrm>
              <a:blipFill>
                <a:blip r:embed="rId2"/>
                <a:stretch>
                  <a:fillRect l="-464" t="-15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38778746-38C6-4AAC-AFBE-E6653F2CE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065" y="1031732"/>
            <a:ext cx="3605723" cy="241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83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C652B-6E85-4000-AF4E-54FFDFBFF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2"/>
            <a:ext cx="4216400" cy="676275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2. </a:t>
            </a:r>
            <a:endParaRPr lang="ko-KR" altLang="en-US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2404CD-E86D-4377-9A91-05DD94F37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6"/>
            <a:ext cx="6509298" cy="11939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BCBDA2-AFF5-4B9C-8010-12E6B9CB4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8" y="2054313"/>
            <a:ext cx="2991267" cy="8097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239239-67AD-448F-905A-3A51D60A7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415" y="3343564"/>
            <a:ext cx="3498461" cy="14901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440C7A-6434-48E3-9E21-F6C17062A655}"/>
                  </a:ext>
                </a:extLst>
              </p:cNvPr>
              <p:cNvSpPr txBox="1"/>
              <p:nvPr/>
            </p:nvSpPr>
            <p:spPr>
              <a:xfrm>
                <a:off x="4102485" y="3748299"/>
                <a:ext cx="6160654" cy="7135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400" b="0" dirty="0"/>
                  <a:t>=&gt;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|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𝑑𝑖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𝑑𝑣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𝐶𝐸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altLang="ko-KR" sz="2400" dirty="0"/>
                  <a:t>Q</a:t>
                </a:r>
                <a:r>
                  <a:rPr lang="ko-KR" altLang="en-US" sz="2400" dirty="0"/>
                  <a:t>점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𝐶𝑄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𝐶𝑄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440C7A-6434-48E3-9E21-F6C17062A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485" y="3748299"/>
                <a:ext cx="6160654" cy="713593"/>
              </a:xfrm>
              <a:prstGeom prst="rect">
                <a:avLst/>
              </a:prstGeom>
              <a:blipFill>
                <a:blip r:embed="rId5"/>
                <a:stretch>
                  <a:fillRect l="-15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그림 13">
            <a:extLst>
              <a:ext uri="{FF2B5EF4-FFF2-40B4-BE49-F238E27FC236}">
                <a16:creationId xmlns:a16="http://schemas.microsoft.com/office/drawing/2014/main" id="{E1C1D58C-F3E9-4F74-AD5D-D1643796F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355" y="5460391"/>
            <a:ext cx="3867690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127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C652B-6E85-4000-AF4E-54FFDFBFF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2"/>
            <a:ext cx="4216400" cy="676275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문제 및 해설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세로 텍스트 개체 틀 2">
                <a:extLst>
                  <a:ext uri="{FF2B5EF4-FFF2-40B4-BE49-F238E27FC236}">
                    <a16:creationId xmlns:a16="http://schemas.microsoft.com/office/drawing/2014/main" id="{1FA40EBD-CDF9-46EB-8FB4-9C9C09728475}"/>
                  </a:ext>
                </a:extLst>
              </p:cNvPr>
              <p:cNvSpPr>
                <a:spLocks noGrp="1"/>
              </p:cNvSpPr>
              <p:nvPr>
                <p:ph type="body" orient="vert" idx="1"/>
              </p:nvPr>
            </p:nvSpPr>
            <p:spPr>
              <a:xfrm>
                <a:off x="5798177" y="1705432"/>
                <a:ext cx="5330309" cy="1185445"/>
              </a:xfrm>
            </p:spPr>
            <p:txBody>
              <a:bodyPr vert="horz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−16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ko-KR" alt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=100,     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𝐴𝑐𝑡𝑖𝑣𝑒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𝑚𝑜𝑑𝑒</m:t>
                      </m:r>
                    </m:oMath>
                  </m:oMathPara>
                </a14:m>
                <a:endParaRPr lang="ko-KR" altLang="en-US" sz="1800" dirty="0"/>
              </a:p>
            </p:txBody>
          </p:sp>
        </mc:Choice>
        <mc:Fallback>
          <p:sp>
            <p:nvSpPr>
              <p:cNvPr id="3" name="세로 텍스트 개체 틀 2">
                <a:extLst>
                  <a:ext uri="{FF2B5EF4-FFF2-40B4-BE49-F238E27FC236}">
                    <a16:creationId xmlns:a16="http://schemas.microsoft.com/office/drawing/2014/main" id="{1FA40EBD-CDF9-46EB-8FB4-9C9C09728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orient="vert" idx="1"/>
              </p:nvPr>
            </p:nvSpPr>
            <p:spPr>
              <a:xfrm>
                <a:off x="5798177" y="1705432"/>
                <a:ext cx="5330309" cy="118544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77D1A228-F4AF-432C-9D02-E53A95F37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68" y="1383641"/>
            <a:ext cx="5330309" cy="18290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47EA5D-9CF6-4E84-AA1D-AED350E81766}"/>
                  </a:ext>
                </a:extLst>
              </p:cNvPr>
              <p:cNvSpPr txBox="1"/>
              <p:nvPr/>
            </p:nvSpPr>
            <p:spPr>
              <a:xfrm>
                <a:off x="275844" y="3882290"/>
                <a:ext cx="11640312" cy="2619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𝐵𝐸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=6.92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𝑚𝐴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3.75</m:t>
                          </m:r>
                          <m:r>
                            <m:rPr>
                              <m:sty m:val="p"/>
                            </m:rPr>
                            <a:rPr lang="el-GR" altLang="ko-KR" b="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           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=375</m:t>
                      </m:r>
                      <m:r>
                        <m:rPr>
                          <m:sty m:val="p"/>
                        </m:rPr>
                        <a:rPr lang="el-GR" altLang="ko-KR" b="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altLang="ko-KR" b="0" dirty="0"/>
              </a:p>
              <a:p>
                <a:endParaRPr lang="en-US" altLang="ko-KR" b="0" dirty="0"/>
              </a:p>
              <a:p>
                <a:endParaRPr lang="en-US" altLang="ko-KR" dirty="0"/>
              </a:p>
              <a:p>
                <a:endParaRPr lang="en-US" altLang="ko-KR" b="0" dirty="0"/>
              </a:p>
              <a:p>
                <a:endParaRPr lang="en-US" altLang="ko-KR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𝑚𝑉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3.75</m:t>
                          </m:r>
                          <m:r>
                            <m:rPr>
                              <m:sty m:val="p"/>
                            </m:rPr>
                            <a:rPr lang="el-GR" altLang="ko-KR" b="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,=0.267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𝑚𝐴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𝑚𝑉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375</m:t>
                          </m:r>
                          <m:r>
                            <m:rPr>
                              <m:sty m:val="p"/>
                            </m:rPr>
                            <a:rPr lang="el-GR" altLang="ko-KR" b="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=2.67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ko-KR" b="0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47EA5D-9CF6-4E84-AA1D-AED350E81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44" y="3882290"/>
                <a:ext cx="11640312" cy="2619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6072B6A-A0D9-44E6-A834-AF6E3EE5C9CB}"/>
              </a:ext>
            </a:extLst>
          </p:cNvPr>
          <p:cNvSpPr txBox="1"/>
          <p:nvPr/>
        </p:nvSpPr>
        <p:spPr>
          <a:xfrm>
            <a:off x="395265" y="3429000"/>
            <a:ext cx="5219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1) </a:t>
            </a:r>
            <a:r>
              <a:rPr lang="en-US" altLang="ko-KR" dirty="0" err="1"/>
              <a:t>Q1</a:t>
            </a:r>
            <a:r>
              <a:rPr lang="ko-KR" altLang="en-US" dirty="0"/>
              <a:t>의 </a:t>
            </a:r>
            <a:r>
              <a:rPr lang="ko-KR" altLang="en-US" dirty="0" err="1"/>
              <a:t>소신호</a:t>
            </a:r>
            <a:r>
              <a:rPr lang="ko-KR" altLang="en-US" dirty="0"/>
              <a:t> </a:t>
            </a:r>
            <a:r>
              <a:rPr lang="en-US" altLang="ko-KR" dirty="0"/>
              <a:t>parameters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4C6A11-9929-4ACF-A8FF-370D977FE77B}"/>
                  </a:ext>
                </a:extLst>
              </p:cNvPr>
              <p:cNvSpPr txBox="1"/>
              <p:nvPr/>
            </p:nvSpPr>
            <p:spPr>
              <a:xfrm>
                <a:off x="395265" y="4996034"/>
                <a:ext cx="7441143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 err="1"/>
                  <a:t>1mV</a:t>
                </a:r>
                <a:r>
                  <a:rPr lang="ko-KR" altLang="en-US" dirty="0"/>
                  <a:t>일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컬렉터와</a:t>
                </a:r>
                <a:r>
                  <a:rPr lang="ko-KR" altLang="en-US" dirty="0"/>
                  <a:t> 베이스의 전류 변화량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4C6A11-9929-4ACF-A8FF-370D977FE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65" y="4996034"/>
                <a:ext cx="7441143" cy="374526"/>
              </a:xfrm>
              <a:prstGeom prst="rect">
                <a:avLst/>
              </a:prstGeom>
              <a:blipFill>
                <a:blip r:embed="rId5"/>
                <a:stretch>
                  <a:fillRect l="-737"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09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203</Words>
  <Application>Microsoft Office PowerPoint</Application>
  <PresentationFormat>와이드스크린</PresentationFormat>
  <Paragraphs>37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Cambria Math</vt:lpstr>
      <vt:lpstr>Office 테마</vt:lpstr>
      <vt:lpstr>1. 소신호 저항</vt:lpstr>
      <vt:lpstr>1. 소신호 저항</vt:lpstr>
      <vt:lpstr>2. </vt:lpstr>
      <vt:lpstr>3. 문제 및 해설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소신호 저항</dc:title>
  <dc:creator>안 준영</dc:creator>
  <cp:lastModifiedBy>안 준영</cp:lastModifiedBy>
  <cp:revision>3</cp:revision>
  <dcterms:created xsi:type="dcterms:W3CDTF">2021-10-13T10:44:24Z</dcterms:created>
  <dcterms:modified xsi:type="dcterms:W3CDTF">2021-10-13T12:02:50Z</dcterms:modified>
</cp:coreProperties>
</file>