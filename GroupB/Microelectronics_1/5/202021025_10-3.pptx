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6" r:id="rId4"/>
    <p:sldId id="26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4002C-1244-4AE4-BD22-B3DCF651E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D17D8-A2D8-4C69-8F09-37BEE659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347F7-6A7E-4D79-B5AE-51DAC1E6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4E6B66-41F5-451E-9957-F60CC486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5768D-95BB-4285-B887-36879BEF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0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D55A7-5855-4A49-BB0A-CC61172F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557C9-3E82-4549-A554-FD51D986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C637D-9BF1-4AEE-8498-F947CE1C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5DD77-0AB6-45D4-95C0-8254B156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7384A-3B62-4836-948C-D8D6CA29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1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55EEE-7E1F-4F87-A5C3-802C6DB2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05AC18-5A5F-4EFD-8E5B-F53989D05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FF736-2604-472C-80D1-9DD43C0F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7AF663-AD16-49A3-96CE-4967491C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D1DF6-C567-46BD-8672-2E8B9441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01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7FD61-5207-404A-8FD7-4ADC8441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4F840-76C4-4586-845A-6FED8CF3E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60D947-729E-4617-AA38-701408E5B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9D29BC-548B-4718-BC9B-6BB0BB2A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83BAEC-D51E-40BB-82C1-928BEF31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047AA-D54A-4683-8215-42257751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68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70A4C-F6FC-4195-B46D-ADCE9BCD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96CFD4-4053-4038-BBDD-AEFADA874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8E7774-35E9-49BE-9119-E54754DE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F82BC2-E18B-4C16-A2D3-9994E9A6B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8F1929-1704-40D3-AE25-BF51E10B7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2F1572-7465-413A-9BC5-4045F629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B7EB7D-C879-490C-9E2E-6B8733E0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93CB1E-83B0-4134-BB59-D336BE07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63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256FA-085D-4A37-AA70-8E772E93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1536E7-A77F-4B01-B742-528ECA03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54E84-0C25-4A0E-A477-D4077B6C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209923-8FF6-4B3E-AC01-B3BFDD5A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872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4110C9-6B3E-4398-A863-032D0DED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9682A8-3803-49ED-AE80-2755B3DB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1DACA4-FF34-4773-8812-317194B0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050B8-A488-4F11-902A-9F3ACAC4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B72126-6511-43B2-80C1-3935F72B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5BC721-CC3D-48FD-BEE7-743DBC38B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568BE-C556-4A6D-B225-7FBD4360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24315E-CA3E-4397-879E-927BC601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0BCC8-B972-4A2B-AB9A-207667FD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13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01DB4-7785-45B0-B935-793CA19F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62B0F8-C9F8-4350-BD35-5B15D2586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3D5105-A5C8-4C98-A056-3445B20C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E60D0-CCC2-4C12-8CE2-52790554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EA966-42D7-4AE9-8579-7B232815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D2105A-11A5-4960-B769-C74346EA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61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C650F-B129-4D33-A699-41C2F739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C2C2A8-7D0D-4AA2-AC93-5A8F57F0E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5477E-9379-423A-943C-D7E6B2B6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D2B6E-0207-40A3-AEEC-E2CF3154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83E42-769E-436A-BDA9-226799FF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5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359279-95BD-4C65-8614-AD8AC6DB2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6EA789-3B67-49F8-9101-1A3A29B83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05A1C-A945-4698-8BDA-FC4D2433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B67F6D-CC2B-4D60-9063-6C911CF6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1771-A177-470B-B1B3-03286C65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9AF049-D71B-413D-ABAD-13F4CDAD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67942A-8D28-4706-943A-8DAF1702F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D7162E-F700-4395-AD17-15F2D595D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1B859-61A2-45C6-A6A4-62C0B67F95BF}" type="datetimeFigureOut">
              <a:rPr lang="ko-KR" altLang="en-US" smtClean="0"/>
              <a:t>2021-11-11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015EB1-84D3-4625-998D-7D112B87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3EE29E-EC8B-45F3-A8AB-A503678A2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CA6D8-5C11-4B08-8432-1E89EC4006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5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8B80-64C2-4C3F-AA56-F970DEA0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1" y="242598"/>
            <a:ext cx="2015836" cy="43843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증가형 </a:t>
            </a:r>
            <a:r>
              <a:rPr lang="en-US" altLang="ko-KR" sz="2000" dirty="0"/>
              <a:t>MOSFET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4866A4-C32B-4BE3-B7AC-544983DC2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827" y="836341"/>
            <a:ext cx="5230829" cy="25090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18F26A-BAD8-47A2-AE4E-751FD1FB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9" y="836341"/>
            <a:ext cx="4198555" cy="2958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B346F-BEC3-487C-883E-4A8D80403478}"/>
              </a:ext>
            </a:extLst>
          </p:cNvPr>
          <p:cNvSpPr txBox="1"/>
          <p:nvPr/>
        </p:nvSpPr>
        <p:spPr>
          <a:xfrm>
            <a:off x="2388668" y="277151"/>
            <a:ext cx="950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금속</a:t>
            </a:r>
            <a:r>
              <a:rPr lang="en-US" altLang="ko-KR" dirty="0"/>
              <a:t>(M)-</a:t>
            </a:r>
            <a:r>
              <a:rPr lang="ko-KR" altLang="en-US" dirty="0" err="1"/>
              <a:t>산화막</a:t>
            </a:r>
            <a:r>
              <a:rPr lang="en-US" altLang="ko-KR" dirty="0"/>
              <a:t>(O)-</a:t>
            </a:r>
            <a:r>
              <a:rPr lang="ko-KR" altLang="en-US" dirty="0"/>
              <a:t>반도체</a:t>
            </a:r>
            <a:r>
              <a:rPr lang="en-US" altLang="ko-KR" dirty="0"/>
              <a:t>(S) </a:t>
            </a:r>
            <a:r>
              <a:rPr lang="ko-KR" altLang="en-US" dirty="0"/>
              <a:t>구조로</a:t>
            </a:r>
            <a:r>
              <a:rPr lang="en-US" altLang="ko-KR" dirty="0"/>
              <a:t>, 3</a:t>
            </a:r>
            <a:r>
              <a:rPr lang="ko-KR" altLang="en-US" dirty="0"/>
              <a:t>개의 요소에서 나오는 전계에 의한 트랜지스터 동작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E9FA9C-B353-43A7-A9C8-1C9D0071F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803" y="5286711"/>
            <a:ext cx="4614197" cy="12941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FE8CF8-63DE-4AE4-BB69-9809FF3656BB}"/>
              </a:ext>
            </a:extLst>
          </p:cNvPr>
          <p:cNvSpPr txBox="1"/>
          <p:nvPr/>
        </p:nvSpPr>
        <p:spPr>
          <a:xfrm>
            <a:off x="6559478" y="5286711"/>
            <a:ext cx="132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회로 기호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110D3-4103-44BE-8A36-6CE24C1E39C6}"/>
              </a:ext>
            </a:extLst>
          </p:cNvPr>
          <p:cNvSpPr txBox="1"/>
          <p:nvPr/>
        </p:nvSpPr>
        <p:spPr>
          <a:xfrm>
            <a:off x="219049" y="3802307"/>
            <a:ext cx="8940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Gate : </a:t>
            </a:r>
            <a:r>
              <a:rPr lang="ko-KR" altLang="en-US" sz="1400" dirty="0"/>
              <a:t>산화막으로 절연되어 있기에 전류가 흐르지 않는다고 본다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          Gate </a:t>
            </a:r>
            <a:r>
              <a:rPr lang="ko-KR" altLang="en-US" sz="1400" dirty="0"/>
              <a:t>전압의 극성과 크기에 따라 </a:t>
            </a:r>
            <a:r>
              <a:rPr lang="en-US" altLang="ko-KR" sz="1400" dirty="0"/>
              <a:t>S</a:t>
            </a:r>
            <a:r>
              <a:rPr lang="ko-KR" altLang="en-US" sz="1400" dirty="0"/>
              <a:t>와 </a:t>
            </a:r>
            <a:r>
              <a:rPr lang="en-US" altLang="ko-KR" sz="1400" dirty="0"/>
              <a:t>D </a:t>
            </a:r>
            <a:r>
              <a:rPr lang="ko-KR" altLang="en-US" sz="1400" dirty="0"/>
              <a:t>사이에 흐르는 전류를 제어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Source : </a:t>
            </a:r>
            <a:r>
              <a:rPr lang="ko-KR" altLang="en-US" sz="1400" dirty="0"/>
              <a:t>전류를 운반하는 캐리어를 공급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Drain : source</a:t>
            </a:r>
            <a:r>
              <a:rPr lang="ko-KR" altLang="en-US" sz="1400" dirty="0"/>
              <a:t>에서 공급된 캐리어가 채널을 지나 소자 밖으로 방출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기판 단자 </a:t>
            </a:r>
            <a:r>
              <a:rPr lang="en-US" altLang="ko-KR" sz="1400" dirty="0"/>
              <a:t>: source </a:t>
            </a:r>
            <a:r>
              <a:rPr lang="ko-KR" altLang="en-US" sz="1400" dirty="0"/>
              <a:t>단자에 연결</a:t>
            </a:r>
            <a:r>
              <a:rPr lang="en-US" altLang="ko-KR" sz="1400" dirty="0"/>
              <a:t>, S/D </a:t>
            </a:r>
            <a:r>
              <a:rPr lang="ko-KR" altLang="en-US" sz="1400" dirty="0"/>
              <a:t>기판의 </a:t>
            </a:r>
            <a:r>
              <a:rPr lang="en-US" altLang="ko-KR" sz="1400" dirty="0" err="1"/>
              <a:t>PN</a:t>
            </a:r>
            <a:r>
              <a:rPr lang="en-US" altLang="ko-KR" sz="1400" dirty="0"/>
              <a:t> </a:t>
            </a:r>
            <a:r>
              <a:rPr lang="ko-KR" altLang="en-US" sz="1400" dirty="0"/>
              <a:t>접합이 역방향 바이어스가 되도록 전압을 인가</a:t>
            </a:r>
            <a:endParaRPr lang="en-US" altLang="ko-KR" sz="1400" dirty="0"/>
          </a:p>
          <a:p>
            <a:r>
              <a:rPr lang="en-US" altLang="ko-KR" sz="1400" dirty="0"/>
              <a:t>    (S/D </a:t>
            </a:r>
            <a:r>
              <a:rPr lang="ko-KR" altLang="en-US" sz="1400" dirty="0"/>
              <a:t>기판 사이에는 전류가 흐르지 않음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33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8B80-64C2-4C3F-AA56-F970DEA0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1" y="242598"/>
            <a:ext cx="7057314" cy="43843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증가형 </a:t>
            </a:r>
            <a:r>
              <a:rPr lang="en-US" altLang="ko-KR" sz="2000" dirty="0"/>
              <a:t>MOSFET </a:t>
            </a:r>
            <a:r>
              <a:rPr lang="ko-KR" altLang="en-US" sz="2000" dirty="0"/>
              <a:t>증폭기 동작모드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43171-80E7-45B5-9A17-E14982216D35}"/>
              </a:ext>
            </a:extLst>
          </p:cNvPr>
          <p:cNvSpPr txBox="1"/>
          <p:nvPr/>
        </p:nvSpPr>
        <p:spPr>
          <a:xfrm>
            <a:off x="302491" y="925551"/>
            <a:ext cx="117455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차단모드 </a:t>
            </a:r>
            <a:r>
              <a:rPr lang="en-US" altLang="ko-KR" dirty="0"/>
              <a:t>: </a:t>
            </a:r>
            <a:r>
              <a:rPr lang="en-US" altLang="ko-KR" dirty="0" err="1"/>
              <a:t>V_GS</a:t>
            </a:r>
            <a:r>
              <a:rPr lang="en-US" altLang="ko-KR" dirty="0"/>
              <a:t> &lt; </a:t>
            </a:r>
            <a:r>
              <a:rPr lang="en-US" altLang="ko-KR" dirty="0" err="1"/>
              <a:t>V_Tn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ko-KR" altLang="en-US" dirty="0">
                <a:highlight>
                  <a:srgbClr val="FFFF00"/>
                </a:highlight>
              </a:rPr>
              <a:t>채널이 형성되지 않아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D </a:t>
            </a:r>
            <a:r>
              <a:rPr lang="ko-KR" altLang="en-US" dirty="0"/>
              <a:t>사이에 전류가 흐르지 않음 </a:t>
            </a:r>
            <a:r>
              <a:rPr lang="en-US" altLang="ko-KR" dirty="0"/>
              <a:t>(=</a:t>
            </a:r>
            <a:r>
              <a:rPr lang="ko-KR" altLang="en-US" dirty="0"/>
              <a:t>열린 스위치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비포화모드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V_GS</a:t>
            </a:r>
            <a:r>
              <a:rPr lang="en-US" altLang="ko-KR" dirty="0"/>
              <a:t> &gt;= </a:t>
            </a:r>
            <a:r>
              <a:rPr lang="en-US" altLang="ko-KR" dirty="0" err="1"/>
              <a:t>V_Tn</a:t>
            </a:r>
            <a:r>
              <a:rPr lang="en-US" altLang="ko-KR" dirty="0"/>
              <a:t>  &amp;  </a:t>
            </a:r>
            <a:r>
              <a:rPr lang="en-US" altLang="ko-KR" dirty="0" err="1"/>
              <a:t>V_DS</a:t>
            </a:r>
            <a:r>
              <a:rPr lang="en-US" altLang="ko-KR" dirty="0"/>
              <a:t> &lt; </a:t>
            </a:r>
            <a:r>
              <a:rPr lang="en-US" altLang="ko-KR" dirty="0" err="1"/>
              <a:t>V_GS</a:t>
            </a:r>
            <a:r>
              <a:rPr lang="en-US" altLang="ko-KR" dirty="0"/>
              <a:t> – </a:t>
            </a:r>
            <a:r>
              <a:rPr lang="en-US" altLang="ko-KR" dirty="0" err="1"/>
              <a:t>V_Tn</a:t>
            </a:r>
            <a:r>
              <a:rPr lang="en-US" altLang="ko-KR" dirty="0"/>
              <a:t>  ,     (</a:t>
            </a:r>
            <a:r>
              <a:rPr lang="en-US" altLang="ko-KR" dirty="0" err="1"/>
              <a:t>V_GS</a:t>
            </a:r>
            <a:r>
              <a:rPr lang="en-US" altLang="ko-KR" dirty="0"/>
              <a:t> – </a:t>
            </a:r>
            <a:r>
              <a:rPr lang="en-US" altLang="ko-KR" dirty="0" err="1"/>
              <a:t>V_Tn</a:t>
            </a:r>
            <a:r>
              <a:rPr lang="en-US" altLang="ko-KR" dirty="0"/>
              <a:t> : </a:t>
            </a:r>
            <a:r>
              <a:rPr lang="ko-KR" altLang="en-US" dirty="0"/>
              <a:t>유효 게이트 전압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채널이 형성되어 </a:t>
            </a:r>
            <a:r>
              <a:rPr lang="en-US" altLang="ko-KR" dirty="0"/>
              <a:t>S-D </a:t>
            </a:r>
            <a:r>
              <a:rPr lang="ko-KR" altLang="en-US" dirty="0"/>
              <a:t>사이에 전류가 흐르지만</a:t>
            </a:r>
            <a:r>
              <a:rPr lang="en-US" altLang="ko-KR" dirty="0"/>
              <a:t>, </a:t>
            </a:r>
            <a:r>
              <a:rPr lang="en-US" altLang="ko-KR" dirty="0" err="1"/>
              <a:t>V_GS</a:t>
            </a:r>
            <a:r>
              <a:rPr lang="ko-KR" altLang="en-US" dirty="0"/>
              <a:t>와 </a:t>
            </a:r>
            <a:r>
              <a:rPr lang="en-US" altLang="ko-KR" dirty="0" err="1"/>
              <a:t>V_DS</a:t>
            </a:r>
            <a:r>
              <a:rPr lang="ko-KR" altLang="en-US" dirty="0"/>
              <a:t>가 증가할수록 </a:t>
            </a:r>
            <a:r>
              <a:rPr lang="ko-KR" altLang="en-US" dirty="0" err="1"/>
              <a:t>드레인</a:t>
            </a:r>
            <a:r>
              <a:rPr lang="ko-KR" altLang="en-US" dirty="0"/>
              <a:t> 전류도 증가함 </a:t>
            </a:r>
            <a:r>
              <a:rPr lang="en-US" altLang="ko-KR" dirty="0"/>
              <a:t>(=</a:t>
            </a:r>
            <a:r>
              <a:rPr lang="ko-KR" altLang="en-US" dirty="0"/>
              <a:t>닫힌 스위치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포화모드 </a:t>
            </a:r>
            <a:r>
              <a:rPr lang="en-US" altLang="ko-KR" dirty="0"/>
              <a:t>: </a:t>
            </a:r>
            <a:r>
              <a:rPr lang="en-US" altLang="ko-KR" dirty="0" err="1"/>
              <a:t>V_GS</a:t>
            </a:r>
            <a:r>
              <a:rPr lang="en-US" altLang="ko-KR" dirty="0"/>
              <a:t> &gt;= </a:t>
            </a:r>
            <a:r>
              <a:rPr lang="en-US" altLang="ko-KR" dirty="0" err="1"/>
              <a:t>V_Tn</a:t>
            </a:r>
            <a:r>
              <a:rPr lang="en-US" altLang="ko-KR" dirty="0"/>
              <a:t>  &amp;  </a:t>
            </a:r>
            <a:r>
              <a:rPr lang="en-US" altLang="ko-KR" dirty="0" err="1"/>
              <a:t>V_DS</a:t>
            </a:r>
            <a:r>
              <a:rPr lang="en-US" altLang="ko-KR" dirty="0"/>
              <a:t> &gt;= </a:t>
            </a:r>
            <a:r>
              <a:rPr lang="en-US" altLang="ko-KR" dirty="0" err="1"/>
              <a:t>V_GS</a:t>
            </a:r>
            <a:r>
              <a:rPr lang="en-US" altLang="ko-KR" dirty="0"/>
              <a:t> – </a:t>
            </a:r>
            <a:r>
              <a:rPr lang="en-US" altLang="ko-KR" dirty="0" err="1"/>
              <a:t>V_Tn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채널이 형성되어  </a:t>
            </a:r>
            <a:r>
              <a:rPr lang="en-US" altLang="ko-KR" dirty="0"/>
              <a:t>S-D </a:t>
            </a:r>
            <a:r>
              <a:rPr lang="ko-KR" altLang="en-US" dirty="0"/>
              <a:t>사이에 전류가 흐름</a:t>
            </a:r>
            <a:r>
              <a:rPr lang="en-US" altLang="ko-KR" dirty="0"/>
              <a:t>. </a:t>
            </a:r>
            <a:r>
              <a:rPr lang="en-US" altLang="ko-KR" dirty="0" err="1"/>
              <a:t>V_DS</a:t>
            </a:r>
            <a:r>
              <a:rPr lang="ko-KR" altLang="en-US" dirty="0"/>
              <a:t>가 증가해도 </a:t>
            </a:r>
            <a:r>
              <a:rPr lang="ko-KR" altLang="en-US" dirty="0" err="1"/>
              <a:t>드레인</a:t>
            </a:r>
            <a:r>
              <a:rPr lang="ko-KR" altLang="en-US" dirty="0"/>
              <a:t> 전류는 일정하게 유지됨</a:t>
            </a:r>
            <a:r>
              <a:rPr lang="en-US" altLang="ko-KR" dirty="0"/>
              <a:t>.(=</a:t>
            </a:r>
            <a:r>
              <a:rPr lang="ko-KR" altLang="en-US" dirty="0"/>
              <a:t>증폭기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>
                <a:highlight>
                  <a:srgbClr val="FFFF00"/>
                </a:highlight>
              </a:rPr>
              <a:t>채널 핀치</a:t>
            </a:r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오프</a:t>
            </a:r>
            <a:r>
              <a:rPr lang="ko-KR" altLang="en-US" dirty="0"/>
              <a:t>가 발생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8467A-F097-40C4-B8BF-7E400CFE97AE}"/>
              </a:ext>
            </a:extLst>
          </p:cNvPr>
          <p:cNvSpPr txBox="1"/>
          <p:nvPr/>
        </p:nvSpPr>
        <p:spPr>
          <a:xfrm>
            <a:off x="302491" y="5619448"/>
            <a:ext cx="2533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V_Tn</a:t>
            </a:r>
            <a:r>
              <a:rPr lang="en-US" altLang="ko-KR" dirty="0"/>
              <a:t>/p : </a:t>
            </a:r>
            <a:r>
              <a:rPr lang="ko-KR" altLang="en-US" dirty="0"/>
              <a:t>임계 전압</a:t>
            </a:r>
            <a:endParaRPr lang="en-US" altLang="ko-KR" dirty="0"/>
          </a:p>
          <a:p>
            <a:r>
              <a:rPr lang="en-US" altLang="ko-KR" dirty="0" err="1"/>
              <a:t>V_Tn</a:t>
            </a:r>
            <a:r>
              <a:rPr lang="en-US" altLang="ko-KR" dirty="0"/>
              <a:t> &gt; 0</a:t>
            </a:r>
          </a:p>
          <a:p>
            <a:r>
              <a:rPr lang="en-US" altLang="ko-KR" dirty="0" err="1"/>
              <a:t>V_Tp</a:t>
            </a:r>
            <a:r>
              <a:rPr lang="en-US" altLang="ko-KR" dirty="0"/>
              <a:t> &lt; 0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2CEBD-633E-4283-9016-6390F4F25364}"/>
              </a:ext>
            </a:extLst>
          </p:cNvPr>
          <p:cNvSpPr txBox="1"/>
          <p:nvPr/>
        </p:nvSpPr>
        <p:spPr>
          <a:xfrm>
            <a:off x="2760133" y="5602514"/>
            <a:ext cx="602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약한 </a:t>
            </a:r>
            <a:r>
              <a:rPr lang="en-US" altLang="ko-KR" dirty="0"/>
              <a:t>Gate </a:t>
            </a:r>
            <a:r>
              <a:rPr lang="ko-KR" altLang="en-US" dirty="0"/>
              <a:t>바이어스</a:t>
            </a:r>
            <a:r>
              <a:rPr lang="en-US" altLang="ko-KR" dirty="0"/>
              <a:t>(&lt;</a:t>
            </a:r>
            <a:r>
              <a:rPr lang="en-US" altLang="ko-KR" dirty="0" err="1"/>
              <a:t>V_Tn</a:t>
            </a:r>
            <a:r>
              <a:rPr lang="en-US" altLang="ko-KR" dirty="0"/>
              <a:t>) -&gt; </a:t>
            </a:r>
            <a:r>
              <a:rPr lang="ko-KR" altLang="en-US" dirty="0" err="1"/>
              <a:t>공핍층</a:t>
            </a:r>
            <a:r>
              <a:rPr lang="ko-KR" altLang="en-US" dirty="0"/>
              <a:t> 형성</a:t>
            </a:r>
            <a:endParaRPr lang="en-US" altLang="ko-KR" dirty="0"/>
          </a:p>
          <a:p>
            <a:r>
              <a:rPr lang="ko-KR" altLang="en-US" dirty="0"/>
              <a:t>강한 </a:t>
            </a:r>
            <a:r>
              <a:rPr lang="en-US" altLang="ko-KR" dirty="0"/>
              <a:t>Gate </a:t>
            </a:r>
            <a:r>
              <a:rPr lang="ko-KR" altLang="en-US" dirty="0"/>
              <a:t>바이어스</a:t>
            </a:r>
            <a:r>
              <a:rPr lang="en-US" altLang="ko-KR" dirty="0"/>
              <a:t>(&gt;</a:t>
            </a:r>
            <a:r>
              <a:rPr lang="en-US" altLang="ko-KR" dirty="0" err="1"/>
              <a:t>V_Tn</a:t>
            </a:r>
            <a:r>
              <a:rPr lang="en-US" altLang="ko-KR" dirty="0"/>
              <a:t>) -&gt; </a:t>
            </a:r>
            <a:r>
              <a:rPr lang="ko-KR" altLang="en-US" dirty="0" err="1"/>
              <a:t>반전층</a:t>
            </a:r>
            <a:r>
              <a:rPr lang="ko-KR" altLang="en-US" dirty="0"/>
              <a:t> 형성 </a:t>
            </a:r>
            <a:r>
              <a:rPr lang="en-US" altLang="ko-KR" dirty="0"/>
              <a:t>-&gt; </a:t>
            </a:r>
            <a:r>
              <a:rPr lang="ko-KR" altLang="en-US" dirty="0"/>
              <a:t>채널 형성</a:t>
            </a:r>
          </a:p>
        </p:txBody>
      </p:sp>
    </p:spTree>
    <p:extLst>
      <p:ext uri="{BB962C8B-B14F-4D97-AF65-F5344CB8AC3E}">
        <p14:creationId xmlns:p14="http://schemas.microsoft.com/office/powerpoint/2010/main" val="83749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8B80-64C2-4C3F-AA56-F970DEA0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1" y="242598"/>
            <a:ext cx="7057314" cy="43843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증가형 </a:t>
            </a:r>
            <a:r>
              <a:rPr lang="en-US" altLang="ko-KR" sz="2000" dirty="0"/>
              <a:t>MOSFET </a:t>
            </a:r>
            <a:r>
              <a:rPr lang="ko-KR" altLang="en-US" sz="2000" dirty="0"/>
              <a:t>증폭기 동작모드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43171-80E7-45B5-9A17-E14982216D35}"/>
              </a:ext>
            </a:extLst>
          </p:cNvPr>
          <p:cNvSpPr txBox="1"/>
          <p:nvPr/>
        </p:nvSpPr>
        <p:spPr>
          <a:xfrm>
            <a:off x="302491" y="1332737"/>
            <a:ext cx="529474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err="1"/>
              <a:t>비포화</a:t>
            </a:r>
            <a:r>
              <a:rPr lang="ko-KR" altLang="en-US" sz="1400" dirty="0"/>
              <a:t> 동작모드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V_GS</a:t>
            </a:r>
            <a:r>
              <a:rPr lang="en-US" altLang="ko-KR" sz="1400" dirty="0"/>
              <a:t> &gt; </a:t>
            </a:r>
            <a:r>
              <a:rPr lang="en-US" altLang="ko-KR" sz="1400" dirty="0" err="1"/>
              <a:t>V_Tn</a:t>
            </a:r>
            <a:r>
              <a:rPr lang="en-US" altLang="ko-KR" sz="1400" dirty="0"/>
              <a:t>   &amp;  </a:t>
            </a:r>
            <a:r>
              <a:rPr lang="en-US" altLang="ko-KR" sz="1400" dirty="0" err="1"/>
              <a:t>V_DS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V_GS</a:t>
            </a:r>
            <a:r>
              <a:rPr lang="en-US" altLang="ko-KR" sz="1400" dirty="0"/>
              <a:t> – </a:t>
            </a:r>
            <a:r>
              <a:rPr lang="en-US" altLang="ko-KR" sz="1400" dirty="0" err="1"/>
              <a:t>V_Tn</a:t>
            </a:r>
            <a:endParaRPr lang="en-US" altLang="ko-KR" sz="1400" dirty="0"/>
          </a:p>
          <a:p>
            <a:r>
              <a:rPr lang="en-US" altLang="ko-KR" sz="1400" dirty="0"/>
              <a:t>  </a:t>
            </a:r>
            <a:r>
              <a:rPr lang="en-US" altLang="ko-KR" sz="1400" dirty="0" err="1"/>
              <a:t>I_D</a:t>
            </a:r>
            <a:r>
              <a:rPr lang="ko-KR" altLang="en-US" sz="1400" dirty="0"/>
              <a:t>가 </a:t>
            </a:r>
            <a:r>
              <a:rPr lang="en-US" altLang="ko-KR" sz="1400" dirty="0" err="1"/>
              <a:t>V_G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V_D</a:t>
            </a:r>
            <a:r>
              <a:rPr lang="ko-KR" altLang="en-US" sz="1400" dirty="0"/>
              <a:t>의 영향을 받음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 startAt="2"/>
            </a:pPr>
            <a:r>
              <a:rPr lang="ko-KR" altLang="en-US" sz="1400" dirty="0"/>
              <a:t>포화 동작 모드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V_GS</a:t>
            </a:r>
            <a:r>
              <a:rPr lang="en-US" altLang="ko-KR" sz="1400" dirty="0"/>
              <a:t> &gt; </a:t>
            </a:r>
            <a:r>
              <a:rPr lang="en-US" altLang="ko-KR" sz="1400" dirty="0" err="1"/>
              <a:t>V_Tn</a:t>
            </a:r>
            <a:r>
              <a:rPr lang="en-US" altLang="ko-KR" sz="1400" dirty="0"/>
              <a:t>  &amp;  </a:t>
            </a:r>
            <a:r>
              <a:rPr lang="en-US" altLang="ko-KR" sz="1400" dirty="0" err="1"/>
              <a:t>V_DS</a:t>
            </a:r>
            <a:r>
              <a:rPr lang="en-US" altLang="ko-KR" sz="1400" dirty="0"/>
              <a:t> &gt;= </a:t>
            </a:r>
            <a:r>
              <a:rPr lang="en-US" altLang="ko-KR" sz="1400" dirty="0" err="1"/>
              <a:t>V_GS</a:t>
            </a:r>
            <a:r>
              <a:rPr lang="en-US" altLang="ko-KR" sz="1400" dirty="0"/>
              <a:t> – </a:t>
            </a:r>
            <a:r>
              <a:rPr lang="en-US" altLang="ko-KR" sz="1400" dirty="0" err="1"/>
              <a:t>V_Tn</a:t>
            </a:r>
            <a:endParaRPr lang="en-US" altLang="ko-KR" sz="1400" dirty="0"/>
          </a:p>
          <a:p>
            <a:r>
              <a:rPr lang="en-US" altLang="ko-KR" sz="1400" dirty="0"/>
              <a:t> </a:t>
            </a:r>
            <a:r>
              <a:rPr lang="en-US" altLang="ko-KR" sz="1400" dirty="0" err="1"/>
              <a:t>I_D</a:t>
            </a:r>
            <a:r>
              <a:rPr lang="ko-KR" altLang="en-US" sz="1400" dirty="0"/>
              <a:t>가 </a:t>
            </a:r>
            <a:r>
              <a:rPr lang="en-US" altLang="ko-KR" sz="1400" dirty="0" err="1"/>
              <a:t>V_G</a:t>
            </a:r>
            <a:r>
              <a:rPr lang="ko-KR" altLang="en-US" sz="1400" dirty="0"/>
              <a:t>의 영향을 받음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V_D</a:t>
            </a:r>
            <a:r>
              <a:rPr lang="ko-KR" altLang="en-US" sz="1400" dirty="0"/>
              <a:t>는 무관</a:t>
            </a:r>
            <a:endParaRPr lang="en-US" altLang="ko-KR" sz="1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C66CFF-9AE8-4D63-BD4B-3287CE687A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040" b="53144"/>
          <a:stretch/>
        </p:blipFill>
        <p:spPr>
          <a:xfrm>
            <a:off x="450241" y="1942231"/>
            <a:ext cx="2597760" cy="4609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96966D-A39E-4D1B-B92B-CF8F7559FD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51061" b="-678"/>
          <a:stretch/>
        </p:blipFill>
        <p:spPr>
          <a:xfrm>
            <a:off x="549740" y="3694035"/>
            <a:ext cx="1814769" cy="388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87B1B5-5213-4916-ACC9-8265A7FCCBF0}"/>
              </a:ext>
            </a:extLst>
          </p:cNvPr>
          <p:cNvSpPr txBox="1"/>
          <p:nvPr/>
        </p:nvSpPr>
        <p:spPr>
          <a:xfrm>
            <a:off x="6714837" y="1332737"/>
            <a:ext cx="54771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 err="1"/>
              <a:t>비포화</a:t>
            </a:r>
            <a:r>
              <a:rPr lang="ko-KR" altLang="en-US" sz="1400" dirty="0"/>
              <a:t> 동작모드</a:t>
            </a:r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포화 동작모드</a:t>
            </a:r>
            <a:endParaRPr lang="en-US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7590FA2-17A6-45D4-A396-25FD7545A3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0036" b="56731"/>
          <a:stretch/>
        </p:blipFill>
        <p:spPr>
          <a:xfrm>
            <a:off x="6714837" y="1712119"/>
            <a:ext cx="3029525" cy="4785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21D1C36-ACDB-41FA-99FD-7015C8037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777" y="3481469"/>
            <a:ext cx="1991003" cy="5239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D19D8F5-1DAF-40AB-8F6B-778AB8B0D9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92" t="50556" r="36682"/>
          <a:stretch/>
        </p:blipFill>
        <p:spPr>
          <a:xfrm>
            <a:off x="3519055" y="1875165"/>
            <a:ext cx="1256145" cy="4863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539980C-8CE6-4A6F-9701-A6C1C41FDF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256" t="44935" r="39853" b="3164"/>
          <a:stretch/>
        </p:blipFill>
        <p:spPr>
          <a:xfrm>
            <a:off x="10213108" y="1655194"/>
            <a:ext cx="1510146" cy="5740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93E0D1-1225-4B35-A343-4C581F7AF646}"/>
              </a:ext>
            </a:extLst>
          </p:cNvPr>
          <p:cNvSpPr txBox="1"/>
          <p:nvPr/>
        </p:nvSpPr>
        <p:spPr>
          <a:xfrm>
            <a:off x="302491" y="875753"/>
            <a:ext cx="220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 </a:t>
            </a:r>
            <a:r>
              <a:rPr lang="ko-KR" altLang="en-US" dirty="0"/>
              <a:t>채널 </a:t>
            </a:r>
            <a:r>
              <a:rPr lang="en-US" altLang="ko-KR" dirty="0"/>
              <a:t>MOSFET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74A17-BBB6-4E62-864B-AC983ECD3701}"/>
              </a:ext>
            </a:extLst>
          </p:cNvPr>
          <p:cNvSpPr txBox="1"/>
          <p:nvPr/>
        </p:nvSpPr>
        <p:spPr>
          <a:xfrm>
            <a:off x="6714836" y="875753"/>
            <a:ext cx="319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 </a:t>
            </a:r>
            <a:r>
              <a:rPr lang="ko-KR" altLang="en-US" dirty="0"/>
              <a:t>채널 </a:t>
            </a:r>
            <a:r>
              <a:rPr lang="en-US" altLang="ko-KR" dirty="0"/>
              <a:t>MOSFET  (n-&gt;p)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19B514F-18A6-46E4-B0E2-F53D4AFD7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91" y="4431725"/>
            <a:ext cx="4312873" cy="24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8B80-64C2-4C3F-AA56-F970DEA0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1" y="242598"/>
            <a:ext cx="2015836" cy="43843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68C40-810E-43E5-A247-CF1C5A35C823}"/>
              </a:ext>
            </a:extLst>
          </p:cNvPr>
          <p:cNvSpPr txBox="1"/>
          <p:nvPr/>
        </p:nvSpPr>
        <p:spPr>
          <a:xfrm>
            <a:off x="302491" y="770466"/>
            <a:ext cx="105918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Q: </a:t>
            </a:r>
            <a:r>
              <a:rPr lang="ko-KR" altLang="en-US" dirty="0"/>
              <a:t>증가형 </a:t>
            </a:r>
            <a:r>
              <a:rPr lang="en-US" altLang="ko-KR" dirty="0"/>
              <a:t>MOSFET</a:t>
            </a:r>
            <a:r>
              <a:rPr lang="ko-KR" altLang="en-US" dirty="0"/>
              <a:t>의 포화모드에서</a:t>
            </a:r>
            <a:r>
              <a:rPr lang="en-US" altLang="ko-KR" dirty="0"/>
              <a:t>, </a:t>
            </a:r>
            <a:r>
              <a:rPr lang="en-US" altLang="ko-KR" dirty="0" err="1"/>
              <a:t>V_DS</a:t>
            </a:r>
            <a:r>
              <a:rPr lang="ko-KR" altLang="en-US" dirty="0"/>
              <a:t>가 증가해도 </a:t>
            </a:r>
            <a:r>
              <a:rPr lang="ko-KR" altLang="en-US" dirty="0" err="1"/>
              <a:t>드레인</a:t>
            </a:r>
            <a:r>
              <a:rPr lang="ko-KR" altLang="en-US" dirty="0"/>
              <a:t> 전류가 일정하게 유지되는 이유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ANS: </a:t>
            </a:r>
            <a:r>
              <a:rPr lang="ko-KR" altLang="en-US" dirty="0"/>
              <a:t>포화모드에서</a:t>
            </a:r>
            <a:r>
              <a:rPr lang="en-US" altLang="ko-KR" dirty="0"/>
              <a:t>, </a:t>
            </a:r>
            <a:r>
              <a:rPr lang="ko-KR" altLang="en-US" dirty="0"/>
              <a:t>채널 핀치 오프가 발생해서 </a:t>
            </a:r>
            <a:r>
              <a:rPr lang="en-US" altLang="ko-KR" dirty="0" err="1"/>
              <a:t>V_DS</a:t>
            </a:r>
            <a:r>
              <a:rPr lang="ko-KR" altLang="en-US" dirty="0"/>
              <a:t>가 증가하여도 </a:t>
            </a:r>
            <a:r>
              <a:rPr lang="ko-KR" altLang="en-US" dirty="0" err="1"/>
              <a:t>드레인</a:t>
            </a:r>
            <a:r>
              <a:rPr lang="ko-KR" altLang="en-US" dirty="0"/>
              <a:t> 전류는 일정하게 유지된다</a:t>
            </a:r>
            <a:r>
              <a:rPr lang="en-US" altLang="ko-KR" dirty="0"/>
              <a:t>. </a:t>
            </a:r>
            <a:r>
              <a:rPr lang="ko-KR" altLang="en-US" dirty="0"/>
              <a:t>채널 핀치 </a:t>
            </a:r>
            <a:r>
              <a:rPr lang="ko-KR" altLang="en-US" dirty="0" err="1"/>
              <a:t>오프란</a:t>
            </a:r>
            <a:r>
              <a:rPr lang="ko-KR" altLang="en-US" dirty="0"/>
              <a:t> 게이트의 수직 전계와 </a:t>
            </a:r>
            <a:r>
              <a:rPr lang="ko-KR" altLang="en-US" dirty="0" err="1"/>
              <a:t>드레인의</a:t>
            </a:r>
            <a:r>
              <a:rPr lang="ko-KR" altLang="en-US" dirty="0"/>
              <a:t> 수평 전계가 서로 상쇄되어 </a:t>
            </a:r>
            <a:r>
              <a:rPr lang="ko-KR" altLang="en-US" dirty="0" err="1"/>
              <a:t>드레인</a:t>
            </a:r>
            <a:r>
              <a:rPr lang="ko-KR" altLang="en-US" dirty="0"/>
              <a:t> 근처에서 채널이 형성되지 않아</a:t>
            </a:r>
            <a:r>
              <a:rPr lang="en-US" altLang="ko-KR" dirty="0"/>
              <a:t>, </a:t>
            </a:r>
            <a:r>
              <a:rPr lang="ko-KR" altLang="en-US" dirty="0" err="1"/>
              <a:t>드레인</a:t>
            </a:r>
            <a:r>
              <a:rPr lang="ko-KR" altLang="en-US" dirty="0"/>
              <a:t> 바이어스를 증가시켜도 </a:t>
            </a:r>
            <a:r>
              <a:rPr lang="ko-KR" altLang="en-US" dirty="0" err="1"/>
              <a:t>드레인</a:t>
            </a:r>
            <a:r>
              <a:rPr lang="ko-KR" altLang="en-US" dirty="0"/>
              <a:t> 전류가 일정하게 유지되는 것을 말한다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53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438</Words>
  <Application>Microsoft Office PowerPoint</Application>
  <PresentationFormat>와이드스크린</PresentationFormat>
  <Paragraphs>62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증가형 MOSFET</vt:lpstr>
      <vt:lpstr>증가형 MOSFET 증폭기 동작모드</vt:lpstr>
      <vt:lpstr>증가형 MOSFET 증폭기 동작모드</vt:lpstr>
      <vt:lpstr>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증가형 MOSFET</dc:title>
  <dc:creator>안 준영</dc:creator>
  <cp:lastModifiedBy>안 준영</cp:lastModifiedBy>
  <cp:revision>1</cp:revision>
  <dcterms:created xsi:type="dcterms:W3CDTF">2021-11-11T12:52:55Z</dcterms:created>
  <dcterms:modified xsi:type="dcterms:W3CDTF">2021-11-11T13:48:23Z</dcterms:modified>
</cp:coreProperties>
</file>